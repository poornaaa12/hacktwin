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efef72e-50f6-5f35-7e19-c45ab7cc18a8}">
          <p14:sldIdLst>
            <p14:sldId id="256"/>
            <p14:sldId id="257"/>
          </p14:sldIdLst>
        </p14:section>
        <p14:section name="Background" id="{0f89e199-df5b-49d1-0628-bda1ec5b67b0}">
          <p14:sldIdLst>
            <p14:sldId id="258"/>
          </p14:sldIdLst>
        </p14:section>
        <p14:section name="The system" id="{c945faf1-1942-9bd8-9b38-4edbb0926f72}">
          <p14:sldIdLst>
            <p14:sldId id="259"/>
            <p14:sldId id="260"/>
            <p14:sldId id="261"/>
            <p14:sldId id="262"/>
          </p14:sldIdLst>
        </p14:section>
        <p14:section name="Data, results and status" id="{404d1bb8-2716-df66-9014-fed02d818cd8}">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A30"/>
                </a:solidFill>
                <a:latin typeface="+mn-lt"/>
              </a:defRPr>
            </a:pPr>
            <a:r>
              <a:rPr sz="1300" b="0" i="0" u="none" strike="noStrike">
                <a:solidFill>
                  <a:srgbClr val="1E2A30"/>
                </a:solidFill>
                <a:latin typeface="+mn-lt"/>
              </a:rPr>
              <a:t>Total simulated cycles, 31 core cases (lower = fewer cycles)</a:t>
            </a:r>
          </a:p>
        </c:rich>
      </c:tx>
      <c:layout/>
      <c:overlay val="0"/>
    </c:title>
    <c:autoTitleDeleted val="0"/>
    <c:plotArea>
      <c:layout/>
      <c:barChart>
        <c:barDir val="bar"/>
        <c:grouping val="clustered"/>
        <c:varyColors val="0"/>
        <c:ser>
          <c:idx val="0"/>
          <c:order val="0"/>
          <c:tx>
            <c:strRef>
              <c:f>Sheet1!$B$1</c:f>
              <c:strCache>
                <c:ptCount val="1"/>
                <c:pt idx="0">
                  <c:v>Total cycles, 31 core cases</c:v>
                </c:pt>
              </c:strCache>
            </c:strRef>
          </c:tx>
          <c:spPr>
            <a:solidFill>
              <a:srgbClr val="0F4C5C"/>
            </a:solidFill>
            <a:effectLst/>
          </c:spPr>
          <c:invertIfNegative val="0"/>
          <c:dLbls>
            <c:numFmt formatCode="#,##0" sourceLinked="0"/>
            <c:txPr>
              <a:bodyPr/>
              <a:lstStyle/>
              <a:p>
                <a:pPr>
                  <a:defRPr b="0" i="0" strike="noStrike" sz="1200" u="none">
                    <a:solidFill>
                      <a:srgbClr val="1E2A30"/>
                    </a:solidFill>
                    <a:latin typeface="+mn-lt"/>
                  </a:defRPr>
                </a:pPr>
              </a:p>
            </c:txPr>
            <c:showLegendKey val="0"/>
            <c:showVal val="1"/>
            <c:showCatName val="0"/>
            <c:showSerName val="0"/>
            <c:showPercent val="0"/>
            <c:showBubbleSize val="0"/>
            <c:showLeaderLines val="0"/>
          </c:dLbls>
          <c:dPt>
            <c:idx val="0"/>
            <c:invertIfNegative val="0"/>
            <c:bubble3D val="0"/>
            <c:spPr>
              <a:solidFill>
                <a:srgbClr val="0F4C5C"/>
              </a:solidFill>
              <a:effectLst/>
            </c:spPr>
          </c:dPt>
          <c:dPt>
            <c:idx val="1"/>
            <c:invertIfNegative val="0"/>
            <c:bubble3D val="0"/>
            <c:spPr>
              <a:solidFill>
                <a:srgbClr val="9AA5A9"/>
              </a:solidFill>
              <a:effectLst/>
            </c:spPr>
          </c:dPt>
          <c:dPt>
            <c:idx val="2"/>
            <c:invertIfNegative val="0"/>
            <c:bubble3D val="0"/>
            <c:spPr>
              <a:solidFill>
                <a:srgbClr val="5B8C85"/>
              </a:solidFill>
              <a:effectLst/>
            </c:spPr>
          </c:dPt>
          <c:dPt>
            <c:idx val="3"/>
            <c:invertIfNegative val="0"/>
            <c:bubble3D val="0"/>
            <c:spPr>
              <a:solidFill>
                <a:srgbClr val="5B8C85"/>
              </a:solidFill>
              <a:effectLst/>
            </c:spPr>
          </c:dPt>
          <c:dPt>
            <c:idx val="4"/>
            <c:invertIfNegative val="0"/>
            <c:bubble3D val="0"/>
            <c:spPr>
              <a:solidFill>
                <a:srgbClr val="C9822B"/>
              </a:solidFill>
              <a:effectLst/>
            </c:spPr>
          </c:dPt>
          <c:cat>
            <c:multiLvlStrRef>
              <c:f>Sheet1!$A$2:$A$6</c:f>
              <c:multiLvlStrCache>
                <c:ptCount val="5"/>
                <c:lvl>
                  <c:pt idx="0">
                    <c:v>Baseline (1)</c:v>
                  </c:pt>
                  <c:pt idx="1">
                    <c:v>alu-xor-negate</c:v>
                  </c:pt>
                  <c:pt idx="2">
                    <c:v>jumpfold-8</c:v>
                  </c:pt>
                  <c:pt idx="3">
                    <c:v>jumpfold-1</c:v>
                  </c:pt>
                  <c:pt idx="4">
                    <c:v>multicycle-2phase</c:v>
                  </c:pt>
                </c:lvl>
              </c:multiLvlStrCache>
            </c:multiLvlStrRef>
          </c:cat>
          <c:val>
            <c:numRef>
              <c:f>Sheet1!$B$2:$B$6</c:f>
              <c:numCache>
                <c:formatCode>General</c:formatCode>
                <c:ptCount val="5"/>
                <c:pt idx="0">
                  <c:v>9766</c:v>
                </c:pt>
                <c:pt idx="1">
                  <c:v>9766</c:v>
                </c:pt>
                <c:pt idx="2">
                  <c:v>9136</c:v>
                </c:pt>
                <c:pt idx="3">
                  <c:v>9156</c:v>
                </c:pt>
                <c:pt idx="4">
                  <c:v>19532</c:v>
                </c:pt>
              </c:numCache>
            </c:numRef>
          </c:val>
        </c:ser>
        <c:dLbls>
          <c:numFmt formatCode="#,##0" sourceLinked="0"/>
          <c:txPr>
            <a:bodyPr/>
            <a:lstStyle/>
            <a:p>
              <a:pPr>
                <a:defRPr b="0" i="0" strike="noStrike" sz="1200" u="none">
                  <a:solidFill>
                    <a:srgbClr val="1E2A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5636A"/>
                </a:solidFill>
                <a:latin typeface="+mn-lt"/>
              </a:defRPr>
            </a:pPr>
            <a:endParaRPr lang="en-US"/>
          </a:p>
        </c:txPr>
        <c:crossAx val="2094734552"/>
        <c:crosses val="autoZero"/>
        <c:auto val="1"/>
        <c:lblAlgn val="ctr"/>
        <c:noMultiLvlLbl val="1"/>
      </c:catAx>
      <c:valAx>
        <c:axId val="2094734552"/>
        <c:scaling>
          <c:orientation val="minMax"/>
          <c:min val="0"/>
        </c:scaling>
        <c:delete val="0"/>
        <c:axPos val="b"/>
        <c:majorGridlines>
          <c:spPr>
            <a:ln w="6350" cap="flat">
              <a:solidFill>
                <a:srgbClr val="E3E8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5636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Good morning. Our project is HackTwin. In the Elements of Computing course we build a small computer, the Hack computer, by describing its chips in a hardware description language. HackTwin is a tool that runs those computer designs automatically in the official simulator, keeps a record of everything that happened, and helps us compare designs and understand where time is spent. Keep this one sentence in mind: run, record, store, analyse, compare, show.
SOURCES / EVIDENCE
Team names, roll numbers and course code from slide 1 of HackTwin_MidTerm_Review.pptx. One-sentence summary matches hacktwin_run/README.md.
LIKELY VIVA QUESTION
Q: Is HackTwin a digital twin of a physical chip?
A: No. It is a software record of simulated HDL designs. Nothing is measured on real hardware, so it says nothing about real speed, area or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Let me start with the problem. Our CPU designs are text files in HDL. To test one, we run a small benchmark program in the simulator, and it prints one line per clock cycle. Here is real output for adding 2 and 3: the answer 5 appears in RAM zero at cycle 6. With several designs, ten programs and repeats, nobody can read all of this by hand, check every answer, and compare designs fairly. HackTwin automates that.
SOURCES / EVIDENCE
ComputerAdd.out from the repository; terms defined per hacktwin_run/README.md.
LIKELY VIVA QUESTION
Q: Why not just look at the simulator's pass/fail message?
A: Pass/fail tells you only whether the output matched the expected file. It does not tell you how many cycles a program took, where they were spent, or how two designs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This is the same literature review as our mid-term deck. Four papers define and survey digital twins: Kritzinger and colleagues, Barricelli and colleagues, Fuller and colleagues, and Jones and colleagues. Two are from computer architecture: gem5, a full-system simulator, and McPAT, which models power, area and timing. We take the idea of a digital twin, a continuously updated virtual record of a system, and apply it to simulated CPU designs. We are honest that, unlike McPAT, we do not estimate power, area or timing.
SOURCES / EVIDENCE
Old deck slide 3 (image media/image2.png): six studies with authors, years and contributions as listed.
LIKELY VIVA QUESTION
Q: Your literature talks about twins of physical systems. Why call this a digital twin?
A: We use the term loosely: the 'system' is the simulated HDL design, and the twin is the stored, analysable record of its behaviour. We state clearly that it is not a twin of a physical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So what does HackTwin actually do? It takes three inputs: CPU designs, benchmark programs with known answers, and the official test scripts. It runs every combination in the simulator and records an execution trace, which is just the cycle-by-cycle log you saw. Then it checks the answers, stores everything, analyses it and compares designs. When we say digital twin, we mean that stored record of each design's simulated behaviour. And just as important is what it does not do: no real hardware, no clock speed, no area or power.
SOURCES / EVIDENCE
README.md sections 'HackTwin' intro and 'Known limitations'.
LIKELY VIVA QUESTION
Q: What is the difference between a correct design and a faster design?
A: Correct means it produced the expected answers. Faster, in our tool, only means it needed fewer simulated clock cycles on the same program. A design can be correct and slower, as our two-phase design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Here is the whole system as a left-to-right flow. Designs and programs go into the simulator runner. The output trace is parsed and checked against an independent reference model of the Hack instruction set. Results go into a SQLite database, our twin store. Analysis and comparison read from the store, and the dashboard and report present them. The predictor sits beside the store: it learns from stored runs, but its outputs are estimates and are labelled that way. The GitHub dataset simply supplies more designs on the left.
SOURCES / EVIDENCE
File and module names exist in hacktwin_run/; flow described in README.md.
LIKELY VIVA QUESTION
Q: Why SQLite instead of files?
A: One file, no server, transactions so a failed load does not leave half the data, and versioned schema migrations so older databases are upgraded instead of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This slide shows how one run works. We wrap the design in a small harness chip so that we can see the CPU's internal signals. The simulator runs the program until it reaches its final loop, writing one row per cycle. We record the program counter, which is the address of the current instruction, the registers and every memory write. Then we check the answer two ways: against the expected value, and against an independent model of the instruction set. Everything goes into the store, including failures, so nothing is silently dropped.
SOURCES / EVIDENCE
Implementation in sim_runner.py and twin_store.py; schema version 3 confirmed by the app status bar.
LIKELY VIVA QUESTION
Q: Why do you need three different hashes for a design?
A: A file hash changes even when only a comment changes. The comment-free hash ignores formatting. The netlist hash ignores part order and wire names, so it tells us whether the hardware wiring actually differs. We found design 3 had the same wiring as design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Once runs are stored, we analyse them. Bottleneck analysis shows where cycles go, for example which loop takes most of the time. We are careful to label each finding: an observation is a fact from the trace, a heuristic is a suggestion worth testing, and a confirmed problem is something like a wrong answer. Comparison uses only correct runs of the same program and inputs, and speedup is simply baseline cycles divided by candidate cycles. Ranking uses that one number, with no hidden weights. Recommendations are only called verified when we actually simulated the suggested design.
SOURCES / EVIDENCE
Function names and labels verified in the listed modules; recommendation statuses shown in the dashboard.
LIKELY VIVA QUESTION
Q: Is frequent register change a bug?
A: No. In Hack the A register holds both addresses and jump targets, so it changes often in normal code. We report it as an observation, not a defect.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We used GitHub in two ways. First, 50 real Hack programs from six pinned, permissively licensed repositories, used as extra test workloads. Second, other students' CPU designs: we found 1,346 repositories, processed 339, and 208 imported designs passed every test. We never run code from those repositories and we record licences. For machine learning, a model learns from examples to predict a cycle count. Prediction error is the difference between predicted and measured cycles. The best predictor uses the instruction count and each design's measured cycles per instruction: error under one cycle. Models that only read the program text are barely better than guessing the median. These are estimates, not measurements, and they do not transfer to a new kind of design.
SOURCES / EVIDENCE
Six repositories and licences: collect_github_workloads.py. Funnel and MAE numbers: reports/EXPERIMENT_REPORT.md and cycle_predictor_report.json. The guide's older model: MAE 439.5 vs 513.2 median, R² −0.0856 (hacktwin_cycle_model.validation.json).
LIKELY VIVA QUESTION
Q: Is your ML model accurate?
A: Only the calibrated instruction-count model is accurate, and only for designs it has measurements for. The text-only ML models are weak. The earlier model in the guide had R² below zero, so we treat it as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Here are the measured results. Every number comes from simulator runs stored in the database. All eight of our designs gave correct answers on all 31 test cases. Designs that only rearrange logic, like the XOR-based ALU, took exactly the same cycles as the baseline: an honest null result. Jump folding, which skips repeated jump instructions in loops, cut total cycles by about 6.5 percent. The two-phase design took exactly twice as many cycles, which shows our measurement really detects differences. All 208 correct GitHub designs had baseline timing. What this does not show is that any design is a faster real chip.
SOURCES / EVIDENCE
All values from reports/EXPERIMENT_REPORT.md and reports/experiment_results.json. Note: the old guide's 14/26/64 'cycles' were test-script row counts, identical for every design by construction.
LIKELY VIVA QUESTION
Q: Your old slides said designs 1 and 2 both took 14, 26 and 64 cycles. Why are the numbers different now?
A: Those numbers were how many rows the official test script prints, which is fixed by the script, so every design always tied. We now measure cycles until the program actually finishes.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To finish: what is done, what is limited, and what is next. The full pipeline, the analysis, the dashboard and the tests are implemented and passing. The predictor is only reliable once a design has been measured, the GitHub ingestion is partial, and we can only probe a few memory cells per run. Our next steps are processing the remaining repositories, attempting a genuinely pipelined CPU, and, if we want real timing or area numbers, using a synthesis tool, which the simulator cannot provide. In one sentence: HackTwin turns raw simulator output into checked, comparable evidence about Hack CPU designs. Thank you.
SOURCES / EVIDENCE
README.md; final test run: 136 passed (8 skipped), integration 7 passed (1 network test skipped).
LIKELY VIVA QUESTION
Q: What would it take to claim a design is really faster?
A: Its clock period and area, from a synthesis or timing tool, combined with our cycle counts. Our simulator gives only cycles, so we make no speed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36A"/>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4C5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36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640080"/>
            <a:ext cx="10515600" cy="365760"/>
          </a:xfrm>
          <a:prstGeom prst="rect">
            <a:avLst/>
          </a:prstGeom>
          <a:noFill/>
          <a:ln/>
        </p:spPr>
        <p:txBody>
          <a:bodyPr wrap="square" lIns="0" tIns="0" rIns="0" bIns="0" rtlCol="0" anchor="ctr"/>
          <a:lstStyle/>
          <a:p>
            <a:pPr indent="0" marL="0">
              <a:buNone/>
            </a:pPr>
            <a:r>
              <a:rPr lang="en-US" sz="1600" dirty="0">
                <a:solidFill>
                  <a:srgbClr val="D7E4E6"/>
                </a:solidFill>
              </a:rPr>
              <a:t>23AID113 · Elements of Computing 2 · TEAM-14</a:t>
            </a:r>
            <a:endParaRPr lang="en-US" sz="1600" dirty="0"/>
          </a:p>
        </p:txBody>
      </p:sp>
      <p:sp>
        <p:nvSpPr>
          <p:cNvPr id="3" name="Text 1"/>
          <p:cNvSpPr txBox="1"/>
          <p:nvPr/>
        </p:nvSpPr>
        <p:spPr>
          <a:xfrm>
            <a:off x="731520" y="1371600"/>
            <a:ext cx="10515600" cy="109728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HackTwin</a:t>
            </a:r>
            <a:endParaRPr lang="en-US" sz="6000" dirty="0"/>
          </a:p>
        </p:txBody>
      </p:sp>
      <p:sp>
        <p:nvSpPr>
          <p:cNvPr id="4" name="Text 2"/>
          <p:cNvSpPr txBox="1"/>
          <p:nvPr/>
        </p:nvSpPr>
        <p:spPr>
          <a:xfrm>
            <a:off x="731520" y="2468880"/>
            <a:ext cx="10515600" cy="548640"/>
          </a:xfrm>
          <a:prstGeom prst="rect">
            <a:avLst/>
          </a:prstGeom>
          <a:noFill/>
          <a:ln/>
        </p:spPr>
        <p:txBody>
          <a:bodyPr wrap="square" lIns="0" tIns="0" rIns="0" bIns="0" rtlCol="0" anchor="ctr"/>
          <a:lstStyle/>
          <a:p>
            <a:pPr indent="0" marL="0">
              <a:buNone/>
            </a:pPr>
            <a:r>
              <a:rPr lang="en-US" sz="2600" dirty="0">
                <a:solidFill>
                  <a:srgbClr val="FFFFFF"/>
                </a:solidFill>
                <a:latin typeface="Cambria" pitchFamily="34" charset="0"/>
                <a:ea typeface="Cambria" pitchFamily="34" charset="-122"/>
                <a:cs typeface="Cambria" pitchFamily="34" charset="-120"/>
              </a:rPr>
              <a:t>A digital twin framework for Hack CPU HDL designs</a:t>
            </a:r>
            <a:endParaRPr lang="en-US" sz="2600" dirty="0"/>
          </a:p>
        </p:txBody>
      </p:sp>
      <p:sp>
        <p:nvSpPr>
          <p:cNvPr id="5" name="Summary card"/>
          <p:cNvSpPr/>
          <p:nvPr/>
        </p:nvSpPr>
        <p:spPr>
          <a:xfrm>
            <a:off x="731520" y="3383280"/>
            <a:ext cx="10698480" cy="1234440"/>
          </a:xfrm>
          <a:prstGeom prst="roundRect">
            <a:avLst>
              <a:gd name="adj" fmla="val 5926"/>
            </a:avLst>
          </a:prstGeom>
          <a:solidFill>
            <a:srgbClr val="1B6274"/>
          </a:solidFill>
          <a:ln w="12700">
            <a:solidFill>
              <a:srgbClr val="1B6274"/>
            </a:solidFill>
            <a:prstDash val="solid"/>
          </a:ln>
        </p:spPr>
      </p:sp>
      <p:sp>
        <p:nvSpPr>
          <p:cNvPr id="6" name="Text 4"/>
          <p:cNvSpPr txBox="1"/>
          <p:nvPr/>
        </p:nvSpPr>
        <p:spPr>
          <a:xfrm>
            <a:off x="960120" y="3474720"/>
            <a:ext cx="10241280" cy="1051560"/>
          </a:xfrm>
          <a:prstGeom prst="rect">
            <a:avLst/>
          </a:prstGeom>
          <a:noFill/>
          <a:ln/>
        </p:spPr>
        <p:txBody>
          <a:bodyPr wrap="square" lIns="0" tIns="0" rIns="0" bIns="0" rtlCol="0" anchor="ctr"/>
          <a:lstStyle/>
          <a:p>
            <a:pPr indent="0" marL="0">
              <a:buNone/>
            </a:pPr>
            <a:r>
              <a:rPr lang="en-US" sz="1800" dirty="0">
                <a:solidFill>
                  <a:srgbClr val="FFFFFF"/>
                </a:solidFill>
              </a:rPr>
              <a:t>In one sentence: HackTwin runs Hack CPU designs through the official nand2tetris simulator, records what happens on every clock cycle, stores and analyses those records, compares designs, and shows the findings in a dashboard.</a:t>
            </a:r>
            <a:endParaRPr lang="en-US" sz="1800" dirty="0"/>
          </a:p>
        </p:txBody>
      </p:sp>
      <p:sp>
        <p:nvSpPr>
          <p:cNvPr id="7" name="Text 5"/>
          <p:cNvSpPr txBox="1"/>
          <p:nvPr/>
        </p:nvSpPr>
        <p:spPr>
          <a:xfrm>
            <a:off x="731520" y="4983480"/>
            <a:ext cx="10698480" cy="731520"/>
          </a:xfrm>
          <a:prstGeom prst="rect">
            <a:avLst/>
          </a:prstGeom>
          <a:noFill/>
          <a:ln/>
        </p:spPr>
        <p:txBody>
          <a:bodyPr wrap="square" lIns="0" tIns="0" rIns="0" bIns="0" rtlCol="0" anchor="ctr"/>
          <a:lstStyle/>
          <a:p>
            <a:pPr indent="0" marL="0">
              <a:buNone/>
            </a:pPr>
            <a:r>
              <a:rPr lang="en-US" sz="1400" dirty="0">
                <a:solidFill>
                  <a:srgbClr val="D7E4E6"/>
                </a:solidFill>
              </a:rPr>
              <a:t>Boyilla Charan Teja Reddy (CB.AI.U4AAR25011)  ·  Poornashree P (CB.AI.U4AAR25036)</a:t>
            </a:r>
            <a:endParaRPr lang="en-US" sz="1400" dirty="0"/>
          </a:p>
          <a:p>
            <a:pPr indent="0" marL="0">
              <a:buNone/>
            </a:pPr>
            <a:r>
              <a:rPr lang="en-US" sz="1400" dirty="0">
                <a:solidFill>
                  <a:srgbClr val="D7E4E6"/>
                </a:solidFill>
              </a:rPr>
              <a:t>Thulasiram Sudheeswar Reddy (CB.AI.U4AAR25053)  ·  Harshitha Tippireddy (CB.AI.U4AAR25054)</a:t>
            </a:r>
            <a:endParaRPr lang="en-US" sz="1400" dirty="0"/>
          </a:p>
        </p:txBody>
      </p:sp>
      <p:sp>
        <p:nvSpPr>
          <p:cNvPr id="8" name="Text 6"/>
          <p:cNvSpPr txBox="1"/>
          <p:nvPr/>
        </p:nvSpPr>
        <p:spPr>
          <a:xfrm>
            <a:off x="731520" y="6263640"/>
            <a:ext cx="10058400" cy="320040"/>
          </a:xfrm>
          <a:prstGeom prst="rect">
            <a:avLst/>
          </a:prstGeom>
          <a:noFill/>
          <a:ln/>
        </p:spPr>
        <p:txBody>
          <a:bodyPr wrap="square" lIns="0" tIns="0" rIns="0" bIns="0" rtlCol="0" anchor="ctr"/>
          <a:lstStyle/>
          <a:p>
            <a:pPr indent="0" marL="0">
              <a:buNone/>
            </a:pPr>
            <a:r>
              <a:rPr lang="en-US" sz="1000" i="1" dirty="0">
                <a:solidFill>
                  <a:srgbClr val="B8CDD1"/>
                </a:solidFill>
              </a:rPr>
              <a:t>Team and course details: title slide of HackTwin_MidTerm_Review.pptx</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problem: raw simulator output is hard to use</a:t>
            </a:r>
            <a:endParaRPr lang="en-US" sz="3200" dirty="0"/>
          </a:p>
        </p:txBody>
      </p:sp>
      <p:sp>
        <p:nvSpPr>
          <p:cNvPr id="3" name="Text 1"/>
          <p:cNvSpPr txBox="1"/>
          <p:nvPr/>
        </p:nvSpPr>
        <p:spPr>
          <a:xfrm>
            <a:off x="548640" y="1280160"/>
            <a:ext cx="5760720" cy="4206240"/>
          </a:xfrm>
          <a:prstGeom prst="rect">
            <a:avLst/>
          </a:prstGeom>
          <a:noFill/>
          <a:ln/>
        </p:spPr>
        <p:txBody>
          <a:bodyPr wrap="square" lIns="1016" tIns="1016" rIns="1016" bIns="1016" rtlCol="0" anchor="t"/>
          <a:lstStyle/>
          <a:p>
            <a:pPr marL="342900" indent="-342900">
              <a:spcAft>
                <a:spcPts val="600"/>
              </a:spcAft>
              <a:buSzPct val="100000"/>
              <a:buChar char="•"/>
            </a:pPr>
            <a:r>
              <a:rPr lang="en-US" sz="1500" dirty="0">
                <a:solidFill>
                  <a:srgbClr val="1E2A30"/>
                </a:solidFill>
              </a:rPr>
              <a:t>A Hack CPU is the simple 16-bit computer processor we build in nand2tetris.</a:t>
            </a:r>
            <a:endParaRPr lang="en-US" sz="1500" dirty="0"/>
          </a:p>
          <a:p>
            <a:pPr marL="342900" indent="-342900">
              <a:spcAft>
                <a:spcPts val="600"/>
              </a:spcAft>
              <a:buSzPct val="100000"/>
              <a:buChar char="•"/>
            </a:pPr>
            <a:r>
              <a:rPr lang="en-US" sz="1500" dirty="0">
                <a:solidFill>
                  <a:srgbClr val="1E2A30"/>
                </a:solidFill>
              </a:rPr>
              <a:t>It is written in HDL (hardware description language): text files that describe how chips are wired.</a:t>
            </a:r>
            <a:endParaRPr lang="en-US" sz="1500" dirty="0"/>
          </a:p>
          <a:p>
            <a:pPr marL="342900" indent="-342900">
              <a:spcAft>
                <a:spcPts val="600"/>
              </a:spcAft>
              <a:buSzPct val="100000"/>
              <a:buChar char="•"/>
            </a:pPr>
            <a:r>
              <a:rPr lang="en-US" sz="1500" dirty="0">
                <a:solidFill>
                  <a:srgbClr val="1E2A30"/>
                </a:solidFill>
              </a:rPr>
              <a:t>A benchmark is a small test program (e.g. add 2 + 3) run on every design so results are comparable.</a:t>
            </a:r>
            <a:endParaRPr lang="en-US" sz="1500" dirty="0"/>
          </a:p>
          <a:p>
            <a:pPr marL="342900" indent="-342900">
              <a:spcAft>
                <a:spcPts val="600"/>
              </a:spcAft>
              <a:buSzPct val="100000"/>
              <a:buChar char="•"/>
            </a:pPr>
            <a:r>
              <a:rPr lang="en-US" sz="1500" dirty="0">
                <a:solidFill>
                  <a:srgbClr val="1E2A30"/>
                </a:solidFill>
              </a:rPr>
              <a:t>The simulator (nand2tetris Hardware Simulator) executes the HDL and prints one row per clock cycle, the computer's basic time step.</a:t>
            </a:r>
            <a:endParaRPr lang="en-US" sz="1500" dirty="0"/>
          </a:p>
          <a:p>
            <a:pPr marL="342900" indent="-342900">
              <a:spcAft>
                <a:spcPts val="600"/>
              </a:spcAft>
              <a:buSzPct val="100000"/>
              <a:buChar char="•"/>
            </a:pPr>
            <a:r>
              <a:rPr lang="en-US" sz="1500" dirty="0">
                <a:solidFill>
                  <a:srgbClr val="1E2A30"/>
                </a:solidFill>
              </a:rPr>
              <a:t>Doing this by hand for many designs, programs and repeats means reading thousands of rows like the ones on the right.</a:t>
            </a:r>
            <a:endParaRPr lang="en-US" sz="1500" dirty="0"/>
          </a:p>
        </p:txBody>
      </p:sp>
      <p:sp>
        <p:nvSpPr>
          <p:cNvPr id="4" name="Trace example card"/>
          <p:cNvSpPr/>
          <p:nvPr/>
        </p:nvSpPr>
        <p:spPr>
          <a:xfrm>
            <a:off x="6675120" y="1280160"/>
            <a:ext cx="4937760" cy="4114800"/>
          </a:xfrm>
          <a:prstGeom prst="roundRect">
            <a:avLst>
              <a:gd name="adj" fmla="val 1778"/>
            </a:avLst>
          </a:prstGeom>
          <a:solidFill>
            <a:srgbClr val="EEF3F4"/>
          </a:solidFill>
          <a:ln w="12700">
            <a:solidFill>
              <a:srgbClr val="EEF3F4"/>
            </a:solidFill>
            <a:prstDash val="solid"/>
          </a:ln>
        </p:spPr>
      </p:sp>
      <p:sp>
        <p:nvSpPr>
          <p:cNvPr id="5" name="Text 3"/>
          <p:cNvSpPr txBox="1"/>
          <p:nvPr/>
        </p:nvSpPr>
        <p:spPr>
          <a:xfrm>
            <a:off x="6858000" y="1371600"/>
            <a:ext cx="4572000" cy="365760"/>
          </a:xfrm>
          <a:prstGeom prst="rect">
            <a:avLst/>
          </a:prstGeom>
          <a:noFill/>
          <a:ln/>
        </p:spPr>
        <p:txBody>
          <a:bodyPr wrap="square" lIns="1016" tIns="1016" rIns="1016" bIns="1016" rtlCol="0" anchor="t"/>
          <a:lstStyle/>
          <a:p>
            <a:pPr indent="0" marL="0">
              <a:buNone/>
            </a:pPr>
            <a:r>
              <a:rPr lang="en-US" sz="1400" b="1" dirty="0">
                <a:solidFill>
                  <a:srgbClr val="0F4C5C"/>
                </a:solidFill>
              </a:rPr>
              <a:t>Real output: design 1 running Add (excerpt)</a:t>
            </a:r>
            <a:endParaRPr lang="en-US" sz="1400" dirty="0"/>
          </a:p>
        </p:txBody>
      </p:sp>
      <p:sp>
        <p:nvSpPr>
          <p:cNvPr id="6" name="Text 4"/>
          <p:cNvSpPr txBox="1"/>
          <p:nvPr/>
        </p:nvSpPr>
        <p:spPr>
          <a:xfrm>
            <a:off x="6858000" y="1783080"/>
            <a:ext cx="4572000" cy="2651760"/>
          </a:xfrm>
          <a:prstGeom prst="rect">
            <a:avLst/>
          </a:prstGeom>
          <a:noFill/>
          <a:ln/>
        </p:spPr>
        <p:txBody>
          <a:bodyPr wrap="square" lIns="635" tIns="635" rIns="635" bIns="635" rtlCol="0" anchor="ctr"/>
          <a:lstStyle/>
          <a:p>
            <a:pPr indent="0" marL="0">
              <a:buNone/>
            </a:pPr>
            <a:r>
              <a:rPr lang="en-US" sz="1400" dirty="0">
                <a:solidFill>
                  <a:srgbClr val="1E2A30"/>
                </a:solidFill>
                <a:latin typeface="Courier New" pitchFamily="34" charset="0"/>
                <a:ea typeface="Courier New" pitchFamily="34" charset="-122"/>
                <a:cs typeface="Courier New" pitchFamily="34" charset="-120"/>
              </a:rPr>
              <a:t>time reset A  D  PC  RAM[0]</a:t>
            </a:r>
            <a:endParaRPr lang="en-US" sz="1400" dirty="0"/>
          </a:p>
          <a:p>
            <a:pPr indent="0" marL="0">
              <a:buNone/>
            </a:pPr>
            <a:r>
              <a:rPr lang="en-US" sz="1400" dirty="0">
                <a:solidFill>
                  <a:srgbClr val="1E2A30"/>
                </a:solidFill>
                <a:latin typeface="Courier New" pitchFamily="34" charset="0"/>
                <a:ea typeface="Courier New" pitchFamily="34" charset="-122"/>
                <a:cs typeface="Courier New" pitchFamily="34" charset="-120"/>
              </a:rPr>
              <a:t> 0    0    0  0   0    0</a:t>
            </a:r>
            <a:endParaRPr lang="en-US" sz="1400" dirty="0"/>
          </a:p>
          <a:p>
            <a:pPr indent="0" marL="0">
              <a:buNone/>
            </a:pPr>
            <a:r>
              <a:rPr lang="en-US" sz="1400" dirty="0">
                <a:solidFill>
                  <a:srgbClr val="1E2A30"/>
                </a:solidFill>
                <a:latin typeface="Courier New" pitchFamily="34" charset="0"/>
                <a:ea typeface="Courier New" pitchFamily="34" charset="-122"/>
                <a:cs typeface="Courier New" pitchFamily="34" charset="-120"/>
              </a:rPr>
              <a:t> 1    0    2  0   1    0</a:t>
            </a:r>
            <a:endParaRPr lang="en-US" sz="1400" dirty="0"/>
          </a:p>
          <a:p>
            <a:pPr indent="0" marL="0">
              <a:buNone/>
            </a:pPr>
            <a:r>
              <a:rPr lang="en-US" sz="1400" dirty="0">
                <a:solidFill>
                  <a:srgbClr val="1E2A30"/>
                </a:solidFill>
                <a:latin typeface="Courier New" pitchFamily="34" charset="0"/>
                <a:ea typeface="Courier New" pitchFamily="34" charset="-122"/>
                <a:cs typeface="Courier New" pitchFamily="34" charset="-120"/>
              </a:rPr>
              <a:t> 2    0    2  2   2    0</a:t>
            </a:r>
            <a:endParaRPr lang="en-US" sz="1400" dirty="0"/>
          </a:p>
          <a:p>
            <a:pPr indent="0" marL="0">
              <a:buNone/>
            </a:pPr>
            <a:r>
              <a:rPr lang="en-US" sz="1400" dirty="0">
                <a:solidFill>
                  <a:srgbClr val="1E2A30"/>
                </a:solidFill>
                <a:latin typeface="Courier New" pitchFamily="34" charset="0"/>
                <a:ea typeface="Courier New" pitchFamily="34" charset="-122"/>
                <a:cs typeface="Courier New" pitchFamily="34" charset="-120"/>
              </a:rPr>
              <a:t> 3    0    3  2   3    0</a:t>
            </a:r>
            <a:endParaRPr lang="en-US" sz="1400" dirty="0"/>
          </a:p>
          <a:p>
            <a:pPr indent="0" marL="0">
              <a:buNone/>
            </a:pPr>
            <a:r>
              <a:rPr lang="en-US" sz="1400" dirty="0">
                <a:solidFill>
                  <a:srgbClr val="1E2A30"/>
                </a:solidFill>
                <a:latin typeface="Courier New" pitchFamily="34" charset="0"/>
                <a:ea typeface="Courier New" pitchFamily="34" charset="-122"/>
                <a:cs typeface="Courier New" pitchFamily="34" charset="-120"/>
              </a:rPr>
              <a:t> 4    0    3  5   4    0</a:t>
            </a:r>
            <a:endParaRPr lang="en-US" sz="1400" dirty="0"/>
          </a:p>
          <a:p>
            <a:pPr indent="0" marL="0">
              <a:buNone/>
            </a:pPr>
            <a:r>
              <a:rPr lang="en-US" sz="1400" dirty="0">
                <a:solidFill>
                  <a:srgbClr val="1E2A30"/>
                </a:solidFill>
                <a:latin typeface="Courier New" pitchFamily="34" charset="0"/>
                <a:ea typeface="Courier New" pitchFamily="34" charset="-122"/>
                <a:cs typeface="Courier New" pitchFamily="34" charset="-120"/>
              </a:rPr>
              <a:t> 5    0    0  5   5    0</a:t>
            </a:r>
            <a:endParaRPr lang="en-US" sz="1400" dirty="0"/>
          </a:p>
          <a:p>
            <a:pPr indent="0" marL="0">
              <a:buNone/>
            </a:pPr>
            <a:r>
              <a:rPr lang="en-US" sz="1400" dirty="0">
                <a:solidFill>
                  <a:srgbClr val="1E2A30"/>
                </a:solidFill>
                <a:latin typeface="Courier New" pitchFamily="34" charset="0"/>
                <a:ea typeface="Courier New" pitchFamily="34" charset="-122"/>
                <a:cs typeface="Courier New" pitchFamily="34" charset="-120"/>
              </a:rPr>
              <a:t> 6    0    0  5   6    5   &lt;- answer 5</a:t>
            </a:r>
            <a:endParaRPr lang="en-US" sz="1400" dirty="0"/>
          </a:p>
          <a:p>
            <a:pPr indent="0" marL="0">
              <a:buNone/>
            </a:pPr>
            <a:r>
              <a:rPr lang="en-US" sz="1400" dirty="0">
                <a:solidFill>
                  <a:srgbClr val="1E2A30"/>
                </a:solidFill>
                <a:latin typeface="Courier New" pitchFamily="34" charset="0"/>
                <a:ea typeface="Courier New" pitchFamily="34" charset="-122"/>
                <a:cs typeface="Courier New" pitchFamily="34" charset="-120"/>
              </a:rPr>
              <a:t> 7    1    0  5   0    0   &lt;- reset</a:t>
            </a:r>
            <a:endParaRPr lang="en-US" sz="1400" dirty="0"/>
          </a:p>
        </p:txBody>
      </p:sp>
      <p:sp>
        <p:nvSpPr>
          <p:cNvPr id="7" name="Text 5"/>
          <p:cNvSpPr txBox="1"/>
          <p:nvPr/>
        </p:nvSpPr>
        <p:spPr>
          <a:xfrm>
            <a:off x="6858000" y="4526280"/>
            <a:ext cx="4572000" cy="777240"/>
          </a:xfrm>
          <a:prstGeom prst="rect">
            <a:avLst/>
          </a:prstGeom>
          <a:noFill/>
          <a:ln/>
        </p:spPr>
        <p:txBody>
          <a:bodyPr wrap="square" lIns="1016" tIns="1016" rIns="1016" bIns="1016" rtlCol="0" anchor="t"/>
          <a:lstStyle/>
          <a:p>
            <a:pPr indent="0" marL="0">
              <a:buNone/>
            </a:pPr>
            <a:r>
              <a:rPr lang="en-US" sz="1400" i="1" dirty="0">
                <a:solidFill>
                  <a:srgbClr val="55636A"/>
                </a:solidFill>
              </a:rPr>
              <a:t>Which row holds the answer? Was it correct? Was design B any quicker? The raw file does not say.</a:t>
            </a:r>
            <a:endParaRPr lang="en-US" sz="1400" dirty="0"/>
          </a:p>
        </p:txBody>
      </p:sp>
      <p:sp>
        <p:nvSpPr>
          <p:cNvPr id="8" name="Source note"/>
          <p:cNvSpPr txBox="1"/>
          <p:nvPr/>
        </p:nvSpPr>
        <p:spPr>
          <a:xfrm>
            <a:off x="548640" y="6355080"/>
            <a:ext cx="10515600" cy="320040"/>
          </a:xfrm>
          <a:prstGeom prst="rect">
            <a:avLst/>
          </a:prstGeom>
          <a:noFill/>
          <a:ln/>
        </p:spPr>
        <p:txBody>
          <a:bodyPr wrap="square" lIns="0" tIns="0" rIns="0" bIns="0" rtlCol="0" anchor="ctr"/>
          <a:lstStyle/>
          <a:p>
            <a:pPr indent="0" marL="0">
              <a:buNone/>
            </a:pPr>
            <a:r>
              <a:rPr lang="en-US" sz="1000" i="1" dirty="0">
                <a:solidFill>
                  <a:srgbClr val="55636A"/>
                </a:solidFill>
              </a:rPr>
              <a:t>Trace: hacktwin_run/data/raw_runs/1__ComputerAdd__r0/ComputerAdd.out (columns abbreviated). Problem framing: old deck slide 2.</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36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Literature review</a:t>
            </a:r>
            <a:endParaRPr lang="en-US" sz="3200" dirty="0"/>
          </a:p>
        </p:txBody>
      </p:sp>
      <p:graphicFrame>
        <p:nvGraphicFramePr>
          <p:cNvPr id="4" name="Literature table"/>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3566160"/>
                <a:gridCol w="2926080"/>
                <a:gridCol w="640080"/>
                <a:gridCol w="3931920"/>
              </a:tblGrid>
              <a:tr h="566928">
                <a:tc>
                  <a:txBody>
                    <a:bodyPr/>
                    <a:lstStyle/>
                    <a:p>
                      <a:pPr indent="0" marL="0">
                        <a:buNone/>
                      </a:pPr>
                      <a:r>
                        <a:rPr lang="en-US" sz="1300" b="1" dirty="0">
                          <a:solidFill>
                            <a:srgbClr val="FFFFFF"/>
                          </a:solidFill>
                        </a:rPr>
                        <a:t>Paper</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F4C5C"/>
                    </a:solidFill>
                  </a:tcPr>
                </a:tc>
                <a:tc>
                  <a:txBody>
                    <a:bodyPr/>
                    <a:lstStyle/>
                    <a:p>
                      <a:pPr indent="0" marL="0">
                        <a:buNone/>
                      </a:pPr>
                      <a:r>
                        <a:rPr lang="en-US" sz="1300" b="1" dirty="0">
                          <a:solidFill>
                            <a:srgbClr val="FFFFFF"/>
                          </a:solidFill>
                        </a:rPr>
                        <a:t>Authors</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F4C5C"/>
                    </a:solidFill>
                  </a:tcPr>
                </a:tc>
                <a:tc>
                  <a:txBody>
                    <a:bodyPr/>
                    <a:lstStyle/>
                    <a:p>
                      <a:pPr indent="0" marL="0">
                        <a:buNone/>
                      </a:pPr>
                      <a:r>
                        <a:rPr lang="en-US" sz="1300" b="1" dirty="0">
                          <a:solidFill>
                            <a:srgbClr val="FFFFFF"/>
                          </a:solidFill>
                        </a:rPr>
                        <a:t>Year</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F4C5C"/>
                    </a:solidFill>
                  </a:tcPr>
                </a:tc>
                <a:tc>
                  <a:txBody>
                    <a:bodyPr/>
                    <a:lstStyle/>
                    <a:p>
                      <a:pPr indent="0" marL="0">
                        <a:buNone/>
                      </a:pPr>
                      <a:r>
                        <a:rPr lang="en-US" sz="1300" b="1" dirty="0">
                          <a:solidFill>
                            <a:srgbClr val="FFFFFF"/>
                          </a:solidFill>
                        </a:rPr>
                        <a:t>Main contribution</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F4C5C"/>
                    </a:solidFill>
                  </a:tcPr>
                </a:tc>
              </a:tr>
              <a:tr h="566928">
                <a:tc>
                  <a:txBody>
                    <a:bodyPr/>
                    <a:lstStyle/>
                    <a:p>
                      <a:pPr indent="0" marL="0">
                        <a:buNone/>
                      </a:pPr>
                      <a:r>
                        <a:rPr lang="en-US" sz="1200" b="1" dirty="0">
                          <a:solidFill>
                            <a:srgbClr val="1E2A30"/>
                          </a:solidFill>
                        </a:rPr>
                        <a:t>Digital Twin in Manufacturing: A Categorical Literature Review and Classification</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W. Kritzinger, M. Karner, G. Traar, J. Henjes, W. Sihn</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2018</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Classifies digital-twin concepts; relates physical systems, virtual representations and data exchange.</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A30"/>
                          </a:solidFill>
                        </a:rPr>
                        <a:t>A Survey on Digital Twin: Definitions, Characteristics, Applications, and Design Implications</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B. R. Barricelli, E. Casiraghi, D. Fogli</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2019</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Reviews digital-twin definitions, characteristics, applications and design considerations.</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A30"/>
                          </a:solidFill>
                        </a:rPr>
                        <a:t>Digital Twin: Enabling Technologies, Challenges and Open Research</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A. Fuller, Z. Fan, C. Day, C. Barlow</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2020</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Enabling technologies and open challenges: simulation, data management, analytics, prediction.</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A30"/>
                          </a:solidFill>
                        </a:rPr>
                        <a:t>Characterising the Digital Twin: A Systematic Literature Review</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D. Jones, C. Snider, A. Nassehi, J. Yon, B. Hicks</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2020</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Systematic review of digital-twin definitions, characteristics and implementations.</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A30"/>
                          </a:solidFill>
                        </a:rPr>
                        <a:t>The gem5 Simulator</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N. Binkert et al.</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2011</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Configurable computer-system simulator for processor and architecture research.</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A30"/>
                          </a:solidFill>
                        </a:rPr>
                        <a:t>McPAT: An Integrated Power, Area, and Timing Modeling Framework for Multicore and Manycore Architectures</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S. Li, J. H. Ahn, R. D. Strong, J. B. Brockman, D. M. Tullsen, N. P. Jouppi</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2009</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200" dirty="0">
                          <a:solidFill>
                            <a:srgbClr val="1E2A30"/>
                          </a:solidFill>
                        </a:rPr>
                        <a:t>Quantitative modelling of processor power, area and timing.</a:t>
                      </a:r>
                      <a:endParaRPr lang="en-US" sz="12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349240"/>
            <a:ext cx="11064240" cy="822960"/>
          </a:xfrm>
          <a:prstGeom prst="rect">
            <a:avLst/>
          </a:prstGeom>
          <a:noFill/>
          <a:ln/>
        </p:spPr>
        <p:txBody>
          <a:bodyPr wrap="square" lIns="1016" tIns="1016" rIns="1016" bIns="1016" rtlCol="0" anchor="t"/>
          <a:lstStyle/>
          <a:p>
            <a:pPr indent="0" marL="0">
              <a:buNone/>
            </a:pPr>
            <a:r>
              <a:rPr lang="en-US" sz="1400" dirty="0">
                <a:solidFill>
                  <a:srgbClr val="0F4C5C"/>
                </a:solidFill>
              </a:rPr>
              <a:t>How HackTwin relates: it borrows the digital-twin idea (a virtual record kept in sync with data from a system), but applies it to simulated HDL designs, not physical machines. Unlike gem5 and McPAT, it does not model power, area or timing.</a:t>
            </a:r>
            <a:endParaRPr lang="en-US" sz="1400" dirty="0"/>
          </a:p>
        </p:txBody>
      </p:sp>
      <p:sp>
        <p:nvSpPr>
          <p:cNvPr id="5" name="Source note"/>
          <p:cNvSpPr txBox="1"/>
          <p:nvPr/>
        </p:nvSpPr>
        <p:spPr>
          <a:xfrm>
            <a:off x="548640" y="6355080"/>
            <a:ext cx="10515600" cy="320040"/>
          </a:xfrm>
          <a:prstGeom prst="rect">
            <a:avLst/>
          </a:prstGeom>
          <a:noFill/>
          <a:ln/>
        </p:spPr>
        <p:txBody>
          <a:bodyPr wrap="square" lIns="0" tIns="0" rIns="0" bIns="0" rtlCol="0" anchor="ctr"/>
          <a:lstStyle/>
          <a:p>
            <a:pPr indent="0" marL="0">
              <a:buNone/>
            </a:pPr>
            <a:r>
              <a:rPr lang="en-US" sz="1000" i="1" dirty="0">
                <a:solidFill>
                  <a:srgbClr val="55636A"/>
                </a:solidFill>
              </a:rPr>
              <a:t>Studies, authors, years and contributions reproduced from the literature-review image (slide 3) of HackTwin_MidTerm_Review.pptx; wording shortened.</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36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What HackTwin does</a:t>
            </a:r>
            <a:endParaRPr lang="en-US" sz="3200" dirty="0"/>
          </a:p>
        </p:txBody>
      </p:sp>
      <p:sp>
        <p:nvSpPr>
          <p:cNvPr id="3" name="Card"/>
          <p:cNvSpPr/>
          <p:nvPr/>
        </p:nvSpPr>
        <p:spPr>
          <a:xfrm>
            <a:off x="548640" y="1280160"/>
            <a:ext cx="3520440" cy="3017520"/>
          </a:xfrm>
          <a:prstGeom prst="roundRect">
            <a:avLst>
              <a:gd name="adj" fmla="val 2424"/>
            </a:avLst>
          </a:prstGeom>
          <a:solidFill>
            <a:srgbClr val="EEF3F4"/>
          </a:solidFill>
          <a:ln w="12700">
            <a:solidFill>
              <a:srgbClr val="EEF3F4"/>
            </a:solidFill>
            <a:prstDash val="solid"/>
          </a:ln>
        </p:spPr>
      </p:sp>
      <p:sp>
        <p:nvSpPr>
          <p:cNvPr id="4" name="Text 2"/>
          <p:cNvSpPr txBox="1"/>
          <p:nvPr/>
        </p:nvSpPr>
        <p:spPr>
          <a:xfrm>
            <a:off x="731520" y="1371600"/>
            <a:ext cx="3200400" cy="411480"/>
          </a:xfrm>
          <a:prstGeom prst="rect">
            <a:avLst/>
          </a:prstGeom>
          <a:noFill/>
          <a:ln/>
        </p:spPr>
        <p:txBody>
          <a:bodyPr wrap="square" lIns="1016" tIns="1016" rIns="1016" bIns="1016" rtlCol="0" anchor="t"/>
          <a:lstStyle/>
          <a:p>
            <a:pPr indent="0" marL="0">
              <a:buNone/>
            </a:pPr>
            <a:r>
              <a:rPr lang="en-US" sz="1800" b="1" dirty="0">
                <a:solidFill>
                  <a:srgbClr val="0F4C5C"/>
                </a:solidFill>
              </a:rPr>
              <a:t>Inputs</a:t>
            </a:r>
            <a:endParaRPr lang="en-US" sz="1800" dirty="0"/>
          </a:p>
        </p:txBody>
      </p:sp>
      <p:sp>
        <p:nvSpPr>
          <p:cNvPr id="5" name="Text 3"/>
          <p:cNvSpPr txBox="1"/>
          <p:nvPr/>
        </p:nvSpPr>
        <p:spPr>
          <a:xfrm>
            <a:off x="731520" y="1828800"/>
            <a:ext cx="3200400" cy="2423160"/>
          </a:xfrm>
          <a:prstGeom prst="rect">
            <a:avLst/>
          </a:prstGeom>
          <a:noFill/>
          <a:ln/>
        </p:spPr>
        <p:txBody>
          <a:bodyPr wrap="square" lIns="1016" tIns="1016" rIns="1016" bIns="1016" rtlCol="0" anchor="t"/>
          <a:lstStyle/>
          <a:p>
            <a:pPr marL="342900" indent="-342900">
              <a:spcAft>
                <a:spcPts val="600"/>
              </a:spcAft>
              <a:buSzPct val="100000"/>
              <a:buChar char="•"/>
            </a:pPr>
            <a:r>
              <a:rPr lang="en-US" sz="1400" dirty="0">
                <a:solidFill>
                  <a:srgbClr val="1E2A30"/>
                </a:solidFill>
              </a:rPr>
              <a:t>CPU designs: folders of HDL files (8 HackTwin designs + imported ones)</a:t>
            </a:r>
            <a:endParaRPr lang="en-US" sz="1500" dirty="0"/>
          </a:p>
          <a:p>
            <a:pPr marL="342900" indent="-342900">
              <a:spcAft>
                <a:spcPts val="600"/>
              </a:spcAft>
              <a:buSzPct val="100000"/>
              <a:buChar char="•"/>
            </a:pPr>
            <a:r>
              <a:rPr lang="en-US" sz="1400" dirty="0">
                <a:solidFill>
                  <a:srgbClr val="1E2A30"/>
                </a:solidFill>
              </a:rPr>
              <a:t>Benchmark programs with input values and expected answers</a:t>
            </a:r>
            <a:endParaRPr lang="en-US" sz="1500" dirty="0"/>
          </a:p>
          <a:p>
            <a:pPr marL="342900" indent="-342900">
              <a:spcAft>
                <a:spcPts val="600"/>
              </a:spcAft>
              <a:buSzPct val="100000"/>
              <a:buChar char="•"/>
            </a:pPr>
            <a:r>
              <a:rPr lang="en-US" sz="1400" dirty="0">
                <a:solidFill>
                  <a:srgbClr val="1E2A30"/>
                </a:solidFill>
              </a:rPr>
              <a:t>Official nand2tetris test scripts</a:t>
            </a:r>
            <a:endParaRPr lang="en-US" sz="1500" dirty="0"/>
          </a:p>
        </p:txBody>
      </p:sp>
      <p:sp>
        <p:nvSpPr>
          <p:cNvPr id="6" name="Arrow"/>
          <p:cNvSpPr/>
          <p:nvPr/>
        </p:nvSpPr>
        <p:spPr>
          <a:xfrm>
            <a:off x="4096512" y="2651760"/>
            <a:ext cx="182880" cy="274320"/>
          </a:xfrm>
          <a:prstGeom prst="rightArrow">
            <a:avLst/>
          </a:prstGeom>
          <a:solidFill>
            <a:srgbClr val="C9822B"/>
          </a:solidFill>
          <a:ln w="12700">
            <a:solidFill>
              <a:srgbClr val="C9822B"/>
            </a:solidFill>
            <a:prstDash val="solid"/>
          </a:ln>
        </p:spPr>
      </p:sp>
      <p:sp>
        <p:nvSpPr>
          <p:cNvPr id="7" name="Card"/>
          <p:cNvSpPr/>
          <p:nvPr/>
        </p:nvSpPr>
        <p:spPr>
          <a:xfrm>
            <a:off x="4297680" y="1280160"/>
            <a:ext cx="3520440" cy="3017520"/>
          </a:xfrm>
          <a:prstGeom prst="roundRect">
            <a:avLst>
              <a:gd name="adj" fmla="val 2424"/>
            </a:avLst>
          </a:prstGeom>
          <a:solidFill>
            <a:srgbClr val="EEF3F4"/>
          </a:solidFill>
          <a:ln w="12700">
            <a:solidFill>
              <a:srgbClr val="EEF3F4"/>
            </a:solidFill>
            <a:prstDash val="solid"/>
          </a:ln>
        </p:spPr>
      </p:sp>
      <p:sp>
        <p:nvSpPr>
          <p:cNvPr id="8" name="Text 6"/>
          <p:cNvSpPr txBox="1"/>
          <p:nvPr/>
        </p:nvSpPr>
        <p:spPr>
          <a:xfrm>
            <a:off x="4480560" y="1371600"/>
            <a:ext cx="3200400" cy="411480"/>
          </a:xfrm>
          <a:prstGeom prst="rect">
            <a:avLst/>
          </a:prstGeom>
          <a:noFill/>
          <a:ln/>
        </p:spPr>
        <p:txBody>
          <a:bodyPr wrap="square" lIns="1016" tIns="1016" rIns="1016" bIns="1016" rtlCol="0" anchor="t"/>
          <a:lstStyle/>
          <a:p>
            <a:pPr indent="0" marL="0">
              <a:buNone/>
            </a:pPr>
            <a:r>
              <a:rPr lang="en-US" sz="1800" b="1" dirty="0">
                <a:solidFill>
                  <a:srgbClr val="0F4C5C"/>
                </a:solidFill>
              </a:rPr>
              <a:t>What it does</a:t>
            </a:r>
            <a:endParaRPr lang="en-US" sz="1800" dirty="0"/>
          </a:p>
        </p:txBody>
      </p:sp>
      <p:sp>
        <p:nvSpPr>
          <p:cNvPr id="9" name="Text 7"/>
          <p:cNvSpPr txBox="1"/>
          <p:nvPr/>
        </p:nvSpPr>
        <p:spPr>
          <a:xfrm>
            <a:off x="4480560" y="1828800"/>
            <a:ext cx="3200400" cy="2423160"/>
          </a:xfrm>
          <a:prstGeom prst="rect">
            <a:avLst/>
          </a:prstGeom>
          <a:noFill/>
          <a:ln/>
        </p:spPr>
        <p:txBody>
          <a:bodyPr wrap="square" lIns="1016" tIns="1016" rIns="1016" bIns="1016" rtlCol="0" anchor="t"/>
          <a:lstStyle/>
          <a:p>
            <a:pPr marL="342900" indent="-342900">
              <a:spcAft>
                <a:spcPts val="600"/>
              </a:spcAft>
              <a:buSzPct val="100000"/>
              <a:buChar char="•"/>
            </a:pPr>
            <a:r>
              <a:rPr lang="en-US" sz="1400" dirty="0">
                <a:solidFill>
                  <a:srgbClr val="1E2A30"/>
                </a:solidFill>
              </a:rPr>
              <a:t>Runs every design on every benchmark in the simulator, with repeats</a:t>
            </a:r>
            <a:endParaRPr lang="en-US" sz="1500" dirty="0"/>
          </a:p>
          <a:p>
            <a:pPr marL="342900" indent="-342900">
              <a:spcAft>
                <a:spcPts val="600"/>
              </a:spcAft>
              <a:buSzPct val="100000"/>
              <a:buChar char="•"/>
            </a:pPr>
            <a:r>
              <a:rPr lang="en-US" sz="1400" dirty="0">
                <a:solidFill>
                  <a:srgbClr val="1E2A30"/>
                </a:solidFill>
              </a:rPr>
              <a:t>Records an execution trace: the step-by-step log of signals each cycle</a:t>
            </a:r>
            <a:endParaRPr lang="en-US" sz="1500" dirty="0"/>
          </a:p>
          <a:p>
            <a:pPr marL="342900" indent="-342900">
              <a:spcAft>
                <a:spcPts val="600"/>
              </a:spcAft>
              <a:buSzPct val="100000"/>
              <a:buChar char="•"/>
            </a:pPr>
            <a:r>
              <a:rPr lang="en-US" sz="1400" dirty="0">
                <a:solidFill>
                  <a:srgbClr val="1E2A30"/>
                </a:solidFill>
              </a:rPr>
              <a:t>Checks answers, stores results, analyses and compares designs</a:t>
            </a:r>
            <a:endParaRPr lang="en-US" sz="1500" dirty="0"/>
          </a:p>
        </p:txBody>
      </p:sp>
      <p:sp>
        <p:nvSpPr>
          <p:cNvPr id="10" name="Arrow"/>
          <p:cNvSpPr/>
          <p:nvPr/>
        </p:nvSpPr>
        <p:spPr>
          <a:xfrm>
            <a:off x="7845552" y="2651760"/>
            <a:ext cx="182880" cy="274320"/>
          </a:xfrm>
          <a:prstGeom prst="rightArrow">
            <a:avLst/>
          </a:prstGeom>
          <a:solidFill>
            <a:srgbClr val="C9822B"/>
          </a:solidFill>
          <a:ln w="12700">
            <a:solidFill>
              <a:srgbClr val="C9822B"/>
            </a:solidFill>
            <a:prstDash val="solid"/>
          </a:ln>
        </p:spPr>
      </p:sp>
      <p:sp>
        <p:nvSpPr>
          <p:cNvPr id="11" name="Card"/>
          <p:cNvSpPr/>
          <p:nvPr/>
        </p:nvSpPr>
        <p:spPr>
          <a:xfrm>
            <a:off x="8046720" y="1280160"/>
            <a:ext cx="3520440" cy="3017520"/>
          </a:xfrm>
          <a:prstGeom prst="roundRect">
            <a:avLst>
              <a:gd name="adj" fmla="val 2424"/>
            </a:avLst>
          </a:prstGeom>
          <a:solidFill>
            <a:srgbClr val="EEF3F4"/>
          </a:solidFill>
          <a:ln w="12700">
            <a:solidFill>
              <a:srgbClr val="EEF3F4"/>
            </a:solidFill>
            <a:prstDash val="solid"/>
          </a:ln>
        </p:spPr>
      </p:sp>
      <p:sp>
        <p:nvSpPr>
          <p:cNvPr id="12" name="Text 10"/>
          <p:cNvSpPr txBox="1"/>
          <p:nvPr/>
        </p:nvSpPr>
        <p:spPr>
          <a:xfrm>
            <a:off x="8229600" y="1371600"/>
            <a:ext cx="3200400" cy="411480"/>
          </a:xfrm>
          <a:prstGeom prst="rect">
            <a:avLst/>
          </a:prstGeom>
          <a:noFill/>
          <a:ln/>
        </p:spPr>
        <p:txBody>
          <a:bodyPr wrap="square" lIns="1016" tIns="1016" rIns="1016" bIns="1016" rtlCol="0" anchor="t"/>
          <a:lstStyle/>
          <a:p>
            <a:pPr indent="0" marL="0">
              <a:buNone/>
            </a:pPr>
            <a:r>
              <a:rPr lang="en-US" sz="1800" b="1" dirty="0">
                <a:solidFill>
                  <a:srgbClr val="0F4C5C"/>
                </a:solidFill>
              </a:rPr>
              <a:t>Outputs</a:t>
            </a:r>
            <a:endParaRPr lang="en-US" sz="1800" dirty="0"/>
          </a:p>
        </p:txBody>
      </p:sp>
      <p:sp>
        <p:nvSpPr>
          <p:cNvPr id="13" name="Text 11"/>
          <p:cNvSpPr txBox="1"/>
          <p:nvPr/>
        </p:nvSpPr>
        <p:spPr>
          <a:xfrm>
            <a:off x="8229600" y="1828800"/>
            <a:ext cx="3200400" cy="2423160"/>
          </a:xfrm>
          <a:prstGeom prst="rect">
            <a:avLst/>
          </a:prstGeom>
          <a:noFill/>
          <a:ln/>
        </p:spPr>
        <p:txBody>
          <a:bodyPr wrap="square" lIns="1016" tIns="1016" rIns="1016" bIns="1016" rtlCol="0" anchor="t"/>
          <a:lstStyle/>
          <a:p>
            <a:pPr marL="342900" indent="-342900">
              <a:spcAft>
                <a:spcPts val="600"/>
              </a:spcAft>
              <a:buSzPct val="100000"/>
              <a:buChar char="•"/>
            </a:pPr>
            <a:r>
              <a:rPr lang="en-US" sz="1400" dirty="0">
                <a:solidFill>
                  <a:srgbClr val="1E2A30"/>
                </a:solidFill>
              </a:rPr>
              <a:t>Cycle counts and correct/incorrect verdicts</a:t>
            </a:r>
            <a:endParaRPr lang="en-US" sz="1500" dirty="0"/>
          </a:p>
          <a:p>
            <a:pPr marL="342900" indent="-342900">
              <a:spcAft>
                <a:spcPts val="600"/>
              </a:spcAft>
              <a:buSzPct val="100000"/>
              <a:buChar char="•"/>
            </a:pPr>
            <a:r>
              <a:rPr lang="en-US" sz="1400" dirty="0">
                <a:solidFill>
                  <a:srgbClr val="1E2A30"/>
                </a:solidFill>
              </a:rPr>
              <a:t>Bottleneck findings and design comparisons</a:t>
            </a:r>
            <a:endParaRPr lang="en-US" sz="1500" dirty="0"/>
          </a:p>
          <a:p>
            <a:pPr marL="342900" indent="-342900">
              <a:spcAft>
                <a:spcPts val="600"/>
              </a:spcAft>
              <a:buSzPct val="100000"/>
              <a:buChar char="•"/>
            </a:pPr>
            <a:r>
              <a:rPr lang="en-US" sz="1400" dirty="0">
                <a:solidFill>
                  <a:srgbClr val="1E2A30"/>
                </a:solidFill>
              </a:rPr>
              <a:t>A web dashboard and a generated report</a:t>
            </a:r>
            <a:endParaRPr lang="en-US" sz="1500" dirty="0"/>
          </a:p>
        </p:txBody>
      </p:sp>
      <p:sp>
        <p:nvSpPr>
          <p:cNvPr id="14" name="Card"/>
          <p:cNvSpPr/>
          <p:nvPr/>
        </p:nvSpPr>
        <p:spPr>
          <a:xfrm>
            <a:off x="548640" y="4526280"/>
            <a:ext cx="5486400" cy="1645920"/>
          </a:xfrm>
          <a:prstGeom prst="roundRect">
            <a:avLst>
              <a:gd name="adj" fmla="val 4444"/>
            </a:avLst>
          </a:prstGeom>
          <a:solidFill>
            <a:srgbClr val="FFFFFF"/>
          </a:solidFill>
          <a:ln w="12700">
            <a:solidFill>
              <a:srgbClr val="5B8C85"/>
            </a:solidFill>
            <a:prstDash val="solid"/>
          </a:ln>
        </p:spPr>
      </p:sp>
      <p:sp>
        <p:nvSpPr>
          <p:cNvPr id="15" name="Text 13"/>
          <p:cNvSpPr txBox="1"/>
          <p:nvPr/>
        </p:nvSpPr>
        <p:spPr>
          <a:xfrm>
            <a:off x="685800" y="4617720"/>
            <a:ext cx="5212080" cy="1463040"/>
          </a:xfrm>
          <a:prstGeom prst="rect">
            <a:avLst/>
          </a:prstGeom>
          <a:noFill/>
          <a:ln/>
        </p:spPr>
        <p:txBody>
          <a:bodyPr wrap="square" lIns="1016" tIns="1016" rIns="1016" bIns="1016" rtlCol="0" anchor="t"/>
          <a:lstStyle/>
          <a:p>
            <a:pPr indent="0" marL="0">
              <a:buNone/>
            </a:pPr>
            <a:r>
              <a:rPr lang="en-US" sz="1400" b="1" dirty="0">
                <a:solidFill>
                  <a:srgbClr val="1E2A30"/>
                </a:solidFill>
              </a:rPr>
              <a:t>'Digital twin' here means: </a:t>
            </a:r>
            <a:pPr indent="0" marL="0">
              <a:buNone/>
            </a:pPr>
            <a:r>
              <a:rPr lang="en-US" sz="1400" dirty="0">
                <a:solidFill>
                  <a:srgbClr val="1E2A30"/>
                </a:solidFill>
              </a:rPr>
              <a:t>a stored, queryable record of how each simulated design behaved, kept up to date as designs and runs change. It is not a copy of a physical chip.</a:t>
            </a:r>
            <a:endParaRPr lang="en-US" sz="1400" dirty="0"/>
          </a:p>
        </p:txBody>
      </p:sp>
      <p:sp>
        <p:nvSpPr>
          <p:cNvPr id="16" name="Card"/>
          <p:cNvSpPr/>
          <p:nvPr/>
        </p:nvSpPr>
        <p:spPr>
          <a:xfrm>
            <a:off x="6172200" y="4526280"/>
            <a:ext cx="5440680" cy="1645920"/>
          </a:xfrm>
          <a:prstGeom prst="roundRect">
            <a:avLst>
              <a:gd name="adj" fmla="val 4444"/>
            </a:avLst>
          </a:prstGeom>
          <a:solidFill>
            <a:srgbClr val="FFFFFF"/>
          </a:solidFill>
          <a:ln w="12700">
            <a:solidFill>
              <a:srgbClr val="B5543C"/>
            </a:solidFill>
            <a:prstDash val="solid"/>
          </a:ln>
        </p:spPr>
      </p:sp>
      <p:sp>
        <p:nvSpPr>
          <p:cNvPr id="17" name="Text 15"/>
          <p:cNvSpPr txBox="1"/>
          <p:nvPr/>
        </p:nvSpPr>
        <p:spPr>
          <a:xfrm>
            <a:off x="6309360" y="4617720"/>
            <a:ext cx="5166360" cy="1463040"/>
          </a:xfrm>
          <a:prstGeom prst="rect">
            <a:avLst/>
          </a:prstGeom>
          <a:noFill/>
          <a:ln/>
        </p:spPr>
        <p:txBody>
          <a:bodyPr wrap="square" lIns="1016" tIns="1016" rIns="1016" bIns="1016" rtlCol="0" anchor="t"/>
          <a:lstStyle/>
          <a:p>
            <a:pPr indent="0" marL="0">
              <a:buNone/>
            </a:pPr>
            <a:r>
              <a:rPr lang="en-US" sz="1400" b="1" dirty="0">
                <a:solidFill>
                  <a:srgbClr val="B5543C"/>
                </a:solidFill>
              </a:rPr>
              <a:t>It does not: </a:t>
            </a:r>
            <a:pPr indent="0" marL="0">
              <a:buNone/>
            </a:pPr>
            <a:r>
              <a:rPr lang="en-US" sz="1400" dirty="0">
                <a:solidFill>
                  <a:srgbClr val="1E2A30"/>
                </a:solidFill>
              </a:rPr>
              <a:t>measure real hardware, clock speed, chip area or power; or prove that a design would be faster as a real chip. Fewer simulated cycles is not the same as faster hardware.</a:t>
            </a:r>
            <a:endParaRPr lang="en-US" sz="1400" dirty="0"/>
          </a:p>
        </p:txBody>
      </p:sp>
      <p:sp>
        <p:nvSpPr>
          <p:cNvPr id="18" name="Source note"/>
          <p:cNvSpPr txBox="1"/>
          <p:nvPr/>
        </p:nvSpPr>
        <p:spPr>
          <a:xfrm>
            <a:off x="548640" y="6355080"/>
            <a:ext cx="10515600" cy="320040"/>
          </a:xfrm>
          <a:prstGeom prst="rect">
            <a:avLst/>
          </a:prstGeom>
          <a:noFill/>
          <a:ln/>
        </p:spPr>
        <p:txBody>
          <a:bodyPr wrap="square" lIns="0" tIns="0" rIns="0" bIns="0" rtlCol="0" anchor="ctr"/>
          <a:lstStyle/>
          <a:p>
            <a:pPr indent="0" marL="0">
              <a:buNone/>
            </a:pPr>
            <a:r>
              <a:rPr lang="en-US" sz="1000" i="1" dirty="0">
                <a:solidFill>
                  <a:srgbClr val="55636A"/>
                </a:solidFill>
              </a:rPr>
              <a:t>hacktwin_run/README.md (purpose, limitations); designs/ folder; benchmarks/suite.json.</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36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System architecture and data flow</a:t>
            </a:r>
            <a:endParaRPr lang="en-US" sz="3200" dirty="0"/>
          </a:p>
        </p:txBody>
      </p:sp>
      <p:sp>
        <p:nvSpPr>
          <p:cNvPr id="3" name="Card"/>
          <p:cNvSpPr/>
          <p:nvPr/>
        </p:nvSpPr>
        <p:spPr>
          <a:xfrm>
            <a:off x="548640" y="1554480"/>
            <a:ext cx="1664208" cy="1600200"/>
          </a:xfrm>
          <a:prstGeom prst="roundRect">
            <a:avLst>
              <a:gd name="adj" fmla="val 4571"/>
            </a:avLst>
          </a:prstGeom>
          <a:solidFill>
            <a:srgbClr val="EEF3F4"/>
          </a:solidFill>
          <a:ln w="12700">
            <a:solidFill>
              <a:srgbClr val="EEF3F4"/>
            </a:solidFill>
            <a:prstDash val="solid"/>
          </a:ln>
        </p:spPr>
      </p:sp>
      <p:sp>
        <p:nvSpPr>
          <p:cNvPr id="4" name="Text 2"/>
          <p:cNvSpPr txBox="1"/>
          <p:nvPr/>
        </p:nvSpPr>
        <p:spPr>
          <a:xfrm>
            <a:off x="621792" y="1664208"/>
            <a:ext cx="1517904" cy="868680"/>
          </a:xfrm>
          <a:prstGeom prst="rect">
            <a:avLst/>
          </a:prstGeom>
          <a:noFill/>
          <a:ln/>
        </p:spPr>
        <p:txBody>
          <a:bodyPr wrap="square" lIns="1016" tIns="1016" rIns="1016" bIns="1016" rtlCol="0" anchor="t"/>
          <a:lstStyle/>
          <a:p>
            <a:pPr algn="ctr" indent="0" marL="0">
              <a:buNone/>
            </a:pPr>
            <a:r>
              <a:rPr lang="en-US" sz="1500" b="1" dirty="0">
                <a:solidFill>
                  <a:srgbClr val="0F4C5C"/>
                </a:solidFill>
              </a:rPr>
              <a:t>HDL designs + benchmark programs</a:t>
            </a:r>
            <a:endParaRPr lang="en-US" sz="1500" dirty="0"/>
          </a:p>
        </p:txBody>
      </p:sp>
      <p:sp>
        <p:nvSpPr>
          <p:cNvPr id="5" name="Text 3"/>
          <p:cNvSpPr txBox="1"/>
          <p:nvPr/>
        </p:nvSpPr>
        <p:spPr>
          <a:xfrm>
            <a:off x="621792" y="2514600"/>
            <a:ext cx="1517904" cy="594360"/>
          </a:xfrm>
          <a:prstGeom prst="rect">
            <a:avLst/>
          </a:prstGeom>
          <a:noFill/>
          <a:ln/>
        </p:spPr>
        <p:txBody>
          <a:bodyPr wrap="square" lIns="1016" tIns="1016" rIns="1016" bIns="1016" rtlCol="0" anchor="t"/>
          <a:lstStyle/>
          <a:p>
            <a:pPr algn="ctr" indent="0" marL="0">
              <a:buNone/>
            </a:pPr>
            <a:r>
              <a:rPr lang="en-US" sz="1100" dirty="0">
                <a:solidFill>
                  <a:srgbClr val="55636A"/>
                </a:solidFill>
              </a:rPr>
              <a:t>designs/, benchmarks/</a:t>
            </a:r>
            <a:endParaRPr lang="en-US" sz="1100" dirty="0"/>
          </a:p>
        </p:txBody>
      </p:sp>
      <p:sp>
        <p:nvSpPr>
          <p:cNvPr id="6" name="Flow arrow"/>
          <p:cNvSpPr/>
          <p:nvPr/>
        </p:nvSpPr>
        <p:spPr>
          <a:xfrm>
            <a:off x="2231136" y="2240280"/>
            <a:ext cx="164592" cy="256032"/>
          </a:xfrm>
          <a:prstGeom prst="rightArrow">
            <a:avLst/>
          </a:prstGeom>
          <a:solidFill>
            <a:srgbClr val="C9822B"/>
          </a:solidFill>
          <a:ln w="12700">
            <a:solidFill>
              <a:srgbClr val="C9822B"/>
            </a:solidFill>
            <a:prstDash val="solid"/>
          </a:ln>
        </p:spPr>
      </p:sp>
      <p:sp>
        <p:nvSpPr>
          <p:cNvPr id="7" name="Card"/>
          <p:cNvSpPr/>
          <p:nvPr/>
        </p:nvSpPr>
        <p:spPr>
          <a:xfrm>
            <a:off x="2414016" y="1554480"/>
            <a:ext cx="1664208" cy="1600200"/>
          </a:xfrm>
          <a:prstGeom prst="roundRect">
            <a:avLst>
              <a:gd name="adj" fmla="val 4571"/>
            </a:avLst>
          </a:prstGeom>
          <a:solidFill>
            <a:srgbClr val="EEF3F4"/>
          </a:solidFill>
          <a:ln w="12700">
            <a:solidFill>
              <a:srgbClr val="EEF3F4"/>
            </a:solidFill>
            <a:prstDash val="solid"/>
          </a:ln>
        </p:spPr>
      </p:sp>
      <p:sp>
        <p:nvSpPr>
          <p:cNvPr id="8" name="Text 6"/>
          <p:cNvSpPr txBox="1"/>
          <p:nvPr/>
        </p:nvSpPr>
        <p:spPr>
          <a:xfrm>
            <a:off x="2487168" y="1664208"/>
            <a:ext cx="1517904" cy="868680"/>
          </a:xfrm>
          <a:prstGeom prst="rect">
            <a:avLst/>
          </a:prstGeom>
          <a:noFill/>
          <a:ln/>
        </p:spPr>
        <p:txBody>
          <a:bodyPr wrap="square" lIns="1016" tIns="1016" rIns="1016" bIns="1016" rtlCol="0" anchor="t"/>
          <a:lstStyle/>
          <a:p>
            <a:pPr algn="ctr" indent="0" marL="0">
              <a:buNone/>
            </a:pPr>
            <a:r>
              <a:rPr lang="en-US" sz="1500" b="1" dirty="0">
                <a:solidFill>
                  <a:srgbClr val="0F4C5C"/>
                </a:solidFill>
              </a:rPr>
              <a:t>Simulator runs</a:t>
            </a:r>
            <a:endParaRPr lang="en-US" sz="1500" dirty="0"/>
          </a:p>
        </p:txBody>
      </p:sp>
      <p:sp>
        <p:nvSpPr>
          <p:cNvPr id="9" name="Text 7"/>
          <p:cNvSpPr txBox="1"/>
          <p:nvPr/>
        </p:nvSpPr>
        <p:spPr>
          <a:xfrm>
            <a:off x="2487168" y="2514600"/>
            <a:ext cx="1517904" cy="594360"/>
          </a:xfrm>
          <a:prstGeom prst="rect">
            <a:avLst/>
          </a:prstGeom>
          <a:noFill/>
          <a:ln/>
        </p:spPr>
        <p:txBody>
          <a:bodyPr wrap="square" lIns="1016" tIns="1016" rIns="1016" bIns="1016" rtlCol="0" anchor="t"/>
          <a:lstStyle/>
          <a:p>
            <a:pPr algn="ctr" indent="0" marL="0">
              <a:buNone/>
            </a:pPr>
            <a:r>
              <a:rPr lang="en-US" sz="1100" dirty="0">
                <a:solidFill>
                  <a:srgbClr val="55636A"/>
                </a:solidFill>
              </a:rPr>
              <a:t>sim_runner.py, experiment_runner.py</a:t>
            </a:r>
            <a:endParaRPr lang="en-US" sz="1100" dirty="0"/>
          </a:p>
        </p:txBody>
      </p:sp>
      <p:sp>
        <p:nvSpPr>
          <p:cNvPr id="10" name="Flow arrow"/>
          <p:cNvSpPr/>
          <p:nvPr/>
        </p:nvSpPr>
        <p:spPr>
          <a:xfrm>
            <a:off x="4096512" y="2240280"/>
            <a:ext cx="164592" cy="256032"/>
          </a:xfrm>
          <a:prstGeom prst="rightArrow">
            <a:avLst/>
          </a:prstGeom>
          <a:solidFill>
            <a:srgbClr val="C9822B"/>
          </a:solidFill>
          <a:ln w="12700">
            <a:solidFill>
              <a:srgbClr val="C9822B"/>
            </a:solidFill>
            <a:prstDash val="solid"/>
          </a:ln>
        </p:spPr>
      </p:sp>
      <p:sp>
        <p:nvSpPr>
          <p:cNvPr id="11" name="Card"/>
          <p:cNvSpPr/>
          <p:nvPr/>
        </p:nvSpPr>
        <p:spPr>
          <a:xfrm>
            <a:off x="4279392" y="1554480"/>
            <a:ext cx="1664208" cy="1600200"/>
          </a:xfrm>
          <a:prstGeom prst="roundRect">
            <a:avLst>
              <a:gd name="adj" fmla="val 4571"/>
            </a:avLst>
          </a:prstGeom>
          <a:solidFill>
            <a:srgbClr val="EEF3F4"/>
          </a:solidFill>
          <a:ln w="12700">
            <a:solidFill>
              <a:srgbClr val="EEF3F4"/>
            </a:solidFill>
            <a:prstDash val="solid"/>
          </a:ln>
        </p:spPr>
      </p:sp>
      <p:sp>
        <p:nvSpPr>
          <p:cNvPr id="12" name="Text 10"/>
          <p:cNvSpPr txBox="1"/>
          <p:nvPr/>
        </p:nvSpPr>
        <p:spPr>
          <a:xfrm>
            <a:off x="4352544" y="1664208"/>
            <a:ext cx="1517904" cy="868680"/>
          </a:xfrm>
          <a:prstGeom prst="rect">
            <a:avLst/>
          </a:prstGeom>
          <a:noFill/>
          <a:ln/>
        </p:spPr>
        <p:txBody>
          <a:bodyPr wrap="square" lIns="1016" tIns="1016" rIns="1016" bIns="1016" rtlCol="0" anchor="t"/>
          <a:lstStyle/>
          <a:p>
            <a:pPr algn="ctr" indent="0" marL="0">
              <a:buNone/>
            </a:pPr>
            <a:r>
              <a:rPr lang="en-US" sz="1500" b="1" dirty="0">
                <a:solidFill>
                  <a:srgbClr val="0F4C5C"/>
                </a:solidFill>
              </a:rPr>
              <a:t>Trace parsing &amp; checking</a:t>
            </a:r>
            <a:endParaRPr lang="en-US" sz="1500" dirty="0"/>
          </a:p>
        </p:txBody>
      </p:sp>
      <p:sp>
        <p:nvSpPr>
          <p:cNvPr id="13" name="Text 11"/>
          <p:cNvSpPr txBox="1"/>
          <p:nvPr/>
        </p:nvSpPr>
        <p:spPr>
          <a:xfrm>
            <a:off x="4352544" y="2514600"/>
            <a:ext cx="1517904" cy="594360"/>
          </a:xfrm>
          <a:prstGeom prst="rect">
            <a:avLst/>
          </a:prstGeom>
          <a:noFill/>
          <a:ln/>
        </p:spPr>
        <p:txBody>
          <a:bodyPr wrap="square" lIns="1016" tIns="1016" rIns="1016" bIns="1016" rtlCol="0" anchor="t"/>
          <a:lstStyle/>
          <a:p>
            <a:pPr algn="ctr" indent="0" marL="0">
              <a:buNone/>
            </a:pPr>
            <a:r>
              <a:rPr lang="en-US" sz="1100" dirty="0">
                <a:solidFill>
                  <a:srgbClr val="55636A"/>
                </a:solidFill>
              </a:rPr>
              <a:t>against ISA reference model</a:t>
            </a:r>
            <a:endParaRPr lang="en-US" sz="1100" dirty="0"/>
          </a:p>
        </p:txBody>
      </p:sp>
      <p:sp>
        <p:nvSpPr>
          <p:cNvPr id="14" name="Flow arrow"/>
          <p:cNvSpPr/>
          <p:nvPr/>
        </p:nvSpPr>
        <p:spPr>
          <a:xfrm>
            <a:off x="5961888" y="2240280"/>
            <a:ext cx="164592" cy="256032"/>
          </a:xfrm>
          <a:prstGeom prst="rightArrow">
            <a:avLst/>
          </a:prstGeom>
          <a:solidFill>
            <a:srgbClr val="C9822B"/>
          </a:solidFill>
          <a:ln w="12700">
            <a:solidFill>
              <a:srgbClr val="C9822B"/>
            </a:solidFill>
            <a:prstDash val="solid"/>
          </a:ln>
        </p:spPr>
      </p:sp>
      <p:sp>
        <p:nvSpPr>
          <p:cNvPr id="15" name="Card"/>
          <p:cNvSpPr/>
          <p:nvPr/>
        </p:nvSpPr>
        <p:spPr>
          <a:xfrm>
            <a:off x="6144768" y="1554480"/>
            <a:ext cx="1664208" cy="1600200"/>
          </a:xfrm>
          <a:prstGeom prst="roundRect">
            <a:avLst>
              <a:gd name="adj" fmla="val 4571"/>
            </a:avLst>
          </a:prstGeom>
          <a:solidFill>
            <a:srgbClr val="0F4C5C"/>
          </a:solidFill>
          <a:ln w="12700">
            <a:solidFill>
              <a:srgbClr val="0F4C5C"/>
            </a:solidFill>
            <a:prstDash val="solid"/>
          </a:ln>
        </p:spPr>
      </p:sp>
      <p:sp>
        <p:nvSpPr>
          <p:cNvPr id="16" name="Text 14"/>
          <p:cNvSpPr txBox="1"/>
          <p:nvPr/>
        </p:nvSpPr>
        <p:spPr>
          <a:xfrm>
            <a:off x="6217920" y="1664208"/>
            <a:ext cx="1517904" cy="868680"/>
          </a:xfrm>
          <a:prstGeom prst="rect">
            <a:avLst/>
          </a:prstGeom>
          <a:noFill/>
          <a:ln/>
        </p:spPr>
        <p:txBody>
          <a:bodyPr wrap="square" lIns="1016" tIns="1016" rIns="1016" bIns="1016" rtlCol="0" anchor="t"/>
          <a:lstStyle/>
          <a:p>
            <a:pPr algn="ctr" indent="0" marL="0">
              <a:buNone/>
            </a:pPr>
            <a:r>
              <a:rPr lang="en-US" sz="1500" b="1" dirty="0">
                <a:solidFill>
                  <a:srgbClr val="FFFFFF"/>
                </a:solidFill>
              </a:rPr>
              <a:t>SQLite twin store</a:t>
            </a:r>
            <a:endParaRPr lang="en-US" sz="1500" dirty="0"/>
          </a:p>
        </p:txBody>
      </p:sp>
      <p:sp>
        <p:nvSpPr>
          <p:cNvPr id="17" name="Text 15"/>
          <p:cNvSpPr txBox="1"/>
          <p:nvPr/>
        </p:nvSpPr>
        <p:spPr>
          <a:xfrm>
            <a:off x="6217920" y="2514600"/>
            <a:ext cx="1517904" cy="594360"/>
          </a:xfrm>
          <a:prstGeom prst="rect">
            <a:avLst/>
          </a:prstGeom>
          <a:noFill/>
          <a:ln/>
        </p:spPr>
        <p:txBody>
          <a:bodyPr wrap="square" lIns="1016" tIns="1016" rIns="1016" bIns="1016" rtlCol="0" anchor="t"/>
          <a:lstStyle/>
          <a:p>
            <a:pPr algn="ctr" indent="0" marL="0">
              <a:buNone/>
            </a:pPr>
            <a:r>
              <a:rPr lang="en-US" sz="1100" dirty="0">
                <a:solidFill>
                  <a:srgbClr val="D7E4E6"/>
                </a:solidFill>
              </a:rPr>
              <a:t>twin_store.py</a:t>
            </a:r>
            <a:endParaRPr lang="en-US" sz="1100" dirty="0"/>
          </a:p>
        </p:txBody>
      </p:sp>
      <p:sp>
        <p:nvSpPr>
          <p:cNvPr id="18" name="Flow arrow"/>
          <p:cNvSpPr/>
          <p:nvPr/>
        </p:nvSpPr>
        <p:spPr>
          <a:xfrm>
            <a:off x="7827264" y="2240280"/>
            <a:ext cx="164592" cy="256032"/>
          </a:xfrm>
          <a:prstGeom prst="rightArrow">
            <a:avLst/>
          </a:prstGeom>
          <a:solidFill>
            <a:srgbClr val="C9822B"/>
          </a:solidFill>
          <a:ln w="12700">
            <a:solidFill>
              <a:srgbClr val="C9822B"/>
            </a:solidFill>
            <a:prstDash val="solid"/>
          </a:ln>
        </p:spPr>
      </p:sp>
      <p:sp>
        <p:nvSpPr>
          <p:cNvPr id="19" name="Card"/>
          <p:cNvSpPr/>
          <p:nvPr/>
        </p:nvSpPr>
        <p:spPr>
          <a:xfrm>
            <a:off x="8010144" y="1554480"/>
            <a:ext cx="1664208" cy="1600200"/>
          </a:xfrm>
          <a:prstGeom prst="roundRect">
            <a:avLst>
              <a:gd name="adj" fmla="val 4571"/>
            </a:avLst>
          </a:prstGeom>
          <a:solidFill>
            <a:srgbClr val="EEF3F4"/>
          </a:solidFill>
          <a:ln w="12700">
            <a:solidFill>
              <a:srgbClr val="EEF3F4"/>
            </a:solidFill>
            <a:prstDash val="solid"/>
          </a:ln>
        </p:spPr>
      </p:sp>
      <p:sp>
        <p:nvSpPr>
          <p:cNvPr id="20" name="Text 18"/>
          <p:cNvSpPr txBox="1"/>
          <p:nvPr/>
        </p:nvSpPr>
        <p:spPr>
          <a:xfrm>
            <a:off x="8083296" y="1664208"/>
            <a:ext cx="1517904" cy="868680"/>
          </a:xfrm>
          <a:prstGeom prst="rect">
            <a:avLst/>
          </a:prstGeom>
          <a:noFill/>
          <a:ln/>
        </p:spPr>
        <p:txBody>
          <a:bodyPr wrap="square" lIns="1016" tIns="1016" rIns="1016" bIns="1016" rtlCol="0" anchor="t"/>
          <a:lstStyle/>
          <a:p>
            <a:pPr algn="ctr" indent="0" marL="0">
              <a:buNone/>
            </a:pPr>
            <a:r>
              <a:rPr lang="en-US" sz="1500" b="1" dirty="0">
                <a:solidFill>
                  <a:srgbClr val="0F4C5C"/>
                </a:solidFill>
              </a:rPr>
              <a:t>Analysis &amp; comparison</a:t>
            </a:r>
            <a:endParaRPr lang="en-US" sz="1500" dirty="0"/>
          </a:p>
        </p:txBody>
      </p:sp>
      <p:sp>
        <p:nvSpPr>
          <p:cNvPr id="21" name="Text 19"/>
          <p:cNvSpPr txBox="1"/>
          <p:nvPr/>
        </p:nvSpPr>
        <p:spPr>
          <a:xfrm>
            <a:off x="8083296" y="2514600"/>
            <a:ext cx="1517904" cy="594360"/>
          </a:xfrm>
          <a:prstGeom prst="rect">
            <a:avLst/>
          </a:prstGeom>
          <a:noFill/>
          <a:ln/>
        </p:spPr>
        <p:txBody>
          <a:bodyPr wrap="square" lIns="1016" tIns="1016" rIns="1016" bIns="1016" rtlCol="0" anchor="t"/>
          <a:lstStyle/>
          <a:p>
            <a:pPr algn="ctr" indent="0" marL="0">
              <a:buNone/>
            </a:pPr>
            <a:r>
              <a:rPr lang="en-US" sz="1100" dirty="0">
                <a:solidFill>
                  <a:srgbClr val="55636A"/>
                </a:solidFill>
              </a:rPr>
              <a:t>bottlenecks, ranking, recommendations</a:t>
            </a:r>
            <a:endParaRPr lang="en-US" sz="1100" dirty="0"/>
          </a:p>
        </p:txBody>
      </p:sp>
      <p:sp>
        <p:nvSpPr>
          <p:cNvPr id="22" name="Flow arrow"/>
          <p:cNvSpPr/>
          <p:nvPr/>
        </p:nvSpPr>
        <p:spPr>
          <a:xfrm>
            <a:off x="9692640" y="2240280"/>
            <a:ext cx="164592" cy="256032"/>
          </a:xfrm>
          <a:prstGeom prst="rightArrow">
            <a:avLst/>
          </a:prstGeom>
          <a:solidFill>
            <a:srgbClr val="C9822B"/>
          </a:solidFill>
          <a:ln w="12700">
            <a:solidFill>
              <a:srgbClr val="C9822B"/>
            </a:solidFill>
            <a:prstDash val="solid"/>
          </a:ln>
        </p:spPr>
      </p:sp>
      <p:sp>
        <p:nvSpPr>
          <p:cNvPr id="23" name="Card"/>
          <p:cNvSpPr/>
          <p:nvPr/>
        </p:nvSpPr>
        <p:spPr>
          <a:xfrm>
            <a:off x="9875520" y="1554480"/>
            <a:ext cx="1664208" cy="1600200"/>
          </a:xfrm>
          <a:prstGeom prst="roundRect">
            <a:avLst>
              <a:gd name="adj" fmla="val 4571"/>
            </a:avLst>
          </a:prstGeom>
          <a:solidFill>
            <a:srgbClr val="EEF3F4"/>
          </a:solidFill>
          <a:ln w="12700">
            <a:solidFill>
              <a:srgbClr val="EEF3F4"/>
            </a:solidFill>
            <a:prstDash val="solid"/>
          </a:ln>
        </p:spPr>
      </p:sp>
      <p:sp>
        <p:nvSpPr>
          <p:cNvPr id="24" name="Text 22"/>
          <p:cNvSpPr txBox="1"/>
          <p:nvPr/>
        </p:nvSpPr>
        <p:spPr>
          <a:xfrm>
            <a:off x="9948672" y="1664208"/>
            <a:ext cx="1517904" cy="868680"/>
          </a:xfrm>
          <a:prstGeom prst="rect">
            <a:avLst/>
          </a:prstGeom>
          <a:noFill/>
          <a:ln/>
        </p:spPr>
        <p:txBody>
          <a:bodyPr wrap="square" lIns="1016" tIns="1016" rIns="1016" bIns="1016" rtlCol="0" anchor="t"/>
          <a:lstStyle/>
          <a:p>
            <a:pPr algn="ctr" indent="0" marL="0">
              <a:buNone/>
            </a:pPr>
            <a:r>
              <a:rPr lang="en-US" sz="1500" b="1" dirty="0">
                <a:solidFill>
                  <a:srgbClr val="0F4C5C"/>
                </a:solidFill>
              </a:rPr>
              <a:t>Dashboard &amp; report</a:t>
            </a:r>
            <a:endParaRPr lang="en-US" sz="1500" dirty="0"/>
          </a:p>
        </p:txBody>
      </p:sp>
      <p:sp>
        <p:nvSpPr>
          <p:cNvPr id="25" name="Text 23"/>
          <p:cNvSpPr txBox="1"/>
          <p:nvPr/>
        </p:nvSpPr>
        <p:spPr>
          <a:xfrm>
            <a:off x="9948672" y="2514600"/>
            <a:ext cx="1517904" cy="594360"/>
          </a:xfrm>
          <a:prstGeom prst="rect">
            <a:avLst/>
          </a:prstGeom>
          <a:noFill/>
          <a:ln/>
        </p:spPr>
        <p:txBody>
          <a:bodyPr wrap="square" lIns="1016" tIns="1016" rIns="1016" bIns="1016" rtlCol="0" anchor="t"/>
          <a:lstStyle/>
          <a:p>
            <a:pPr algn="ctr" indent="0" marL="0">
              <a:buNone/>
            </a:pPr>
            <a:r>
              <a:rPr lang="en-US" sz="1100" dirty="0">
                <a:solidFill>
                  <a:srgbClr val="55636A"/>
                </a:solidFill>
              </a:rPr>
              <a:t>app.py, generate_report.py</a:t>
            </a:r>
            <a:endParaRPr lang="en-US" sz="1100" dirty="0"/>
          </a:p>
        </p:txBody>
      </p:sp>
      <p:sp>
        <p:nvSpPr>
          <p:cNvPr id="26" name="Down arrow"/>
          <p:cNvSpPr/>
          <p:nvPr/>
        </p:nvSpPr>
        <p:spPr>
          <a:xfrm>
            <a:off x="6976872" y="3154680"/>
            <a:ext cx="0" cy="548640"/>
          </a:xfrm>
          <a:prstGeom prst="line">
            <a:avLst/>
          </a:prstGeom>
          <a:noFill/>
          <a:ln w="25400">
            <a:solidFill>
              <a:srgbClr val="C9822B"/>
            </a:solidFill>
            <a:prstDash val="solid"/>
            <a:tailEnd type="triangle"/>
          </a:ln>
        </p:spPr>
      </p:sp>
      <p:sp>
        <p:nvSpPr>
          <p:cNvPr id="27" name="Card"/>
          <p:cNvSpPr/>
          <p:nvPr/>
        </p:nvSpPr>
        <p:spPr>
          <a:xfrm>
            <a:off x="5596128" y="3749040"/>
            <a:ext cx="2761488" cy="914400"/>
          </a:xfrm>
          <a:prstGeom prst="roundRect">
            <a:avLst>
              <a:gd name="adj" fmla="val 8000"/>
            </a:avLst>
          </a:prstGeom>
          <a:solidFill>
            <a:srgbClr val="FFFFFF"/>
          </a:solidFill>
          <a:ln w="12700">
            <a:solidFill>
              <a:srgbClr val="5B8C85"/>
            </a:solidFill>
            <a:prstDash val="solid"/>
          </a:ln>
        </p:spPr>
      </p:sp>
      <p:sp>
        <p:nvSpPr>
          <p:cNvPr id="28" name="Text 26"/>
          <p:cNvSpPr txBox="1"/>
          <p:nvPr/>
        </p:nvSpPr>
        <p:spPr>
          <a:xfrm>
            <a:off x="5687568" y="3794760"/>
            <a:ext cx="2578608" cy="868680"/>
          </a:xfrm>
          <a:prstGeom prst="rect">
            <a:avLst/>
          </a:prstGeom>
          <a:noFill/>
          <a:ln/>
        </p:spPr>
        <p:txBody>
          <a:bodyPr wrap="square" lIns="1016" tIns="1016" rIns="1016" bIns="1016" rtlCol="0" anchor="t"/>
          <a:lstStyle/>
          <a:p>
            <a:pPr algn="ctr" indent="0" marL="0">
              <a:buNone/>
            </a:pPr>
            <a:r>
              <a:rPr lang="en-US" sz="1300" b="1" dirty="0">
                <a:solidFill>
                  <a:srgbClr val="0F4C5C"/>
                </a:solidFill>
              </a:rPr>
              <a:t>Predictor (ML) </a:t>
            </a:r>
            <a:pPr algn="ctr" indent="0" marL="0">
              <a:buNone/>
            </a:pPr>
            <a:r>
              <a:rPr lang="en-US" sz="1300" dirty="0">
                <a:solidFill>
                  <a:srgbClr val="1E2A30"/>
                </a:solidFill>
              </a:rPr>
              <a:t>learns from stored runs; its output is an estimate, never a measurement</a:t>
            </a:r>
            <a:endParaRPr lang="en-US" sz="1300" dirty="0"/>
          </a:p>
        </p:txBody>
      </p:sp>
      <p:sp>
        <p:nvSpPr>
          <p:cNvPr id="29" name="Card"/>
          <p:cNvSpPr/>
          <p:nvPr/>
        </p:nvSpPr>
        <p:spPr>
          <a:xfrm>
            <a:off x="548640" y="4892040"/>
            <a:ext cx="4937760" cy="1280160"/>
          </a:xfrm>
          <a:prstGeom prst="roundRect">
            <a:avLst>
              <a:gd name="adj" fmla="val 5714"/>
            </a:avLst>
          </a:prstGeom>
          <a:solidFill>
            <a:srgbClr val="FFFFFF"/>
          </a:solidFill>
          <a:ln w="12700">
            <a:solidFill>
              <a:srgbClr val="5B8C85"/>
            </a:solidFill>
            <a:prstDash val="solid"/>
          </a:ln>
        </p:spPr>
      </p:sp>
      <p:sp>
        <p:nvSpPr>
          <p:cNvPr id="30" name="Text 28"/>
          <p:cNvSpPr txBox="1"/>
          <p:nvPr/>
        </p:nvSpPr>
        <p:spPr>
          <a:xfrm>
            <a:off x="685800" y="4983480"/>
            <a:ext cx="4663440" cy="1097280"/>
          </a:xfrm>
          <a:prstGeom prst="rect">
            <a:avLst/>
          </a:prstGeom>
          <a:noFill/>
          <a:ln/>
        </p:spPr>
        <p:txBody>
          <a:bodyPr wrap="square" lIns="1016" tIns="1016" rIns="1016" bIns="1016" rtlCol="0" anchor="t"/>
          <a:lstStyle/>
          <a:p>
            <a:pPr indent="0" marL="0">
              <a:buNone/>
            </a:pPr>
            <a:r>
              <a:rPr lang="en-US" sz="1400" b="1" dirty="0">
                <a:solidFill>
                  <a:srgbClr val="0F4C5C"/>
                </a:solidFill>
              </a:rPr>
              <a:t>GitHub dataset </a:t>
            </a:r>
            <a:pPr indent="0" marL="0">
              <a:buNone/>
            </a:pPr>
            <a:r>
              <a:rPr lang="en-US" sz="1400" dirty="0">
                <a:solidFill>
                  <a:srgbClr val="1E2A30"/>
                </a:solidFill>
              </a:rPr>
              <a:t>(public student CPU designs, imported by exact commit) enters at the left as more HDL designs.</a:t>
            </a:r>
            <a:endParaRPr lang="en-US" sz="1400" dirty="0"/>
          </a:p>
        </p:txBody>
      </p:sp>
      <p:sp>
        <p:nvSpPr>
          <p:cNvPr id="31" name="Text 29"/>
          <p:cNvSpPr txBox="1"/>
          <p:nvPr/>
        </p:nvSpPr>
        <p:spPr>
          <a:xfrm>
            <a:off x="5760720" y="4937760"/>
            <a:ext cx="5852160" cy="1280160"/>
          </a:xfrm>
          <a:prstGeom prst="rect">
            <a:avLst/>
          </a:prstGeom>
          <a:noFill/>
          <a:ln/>
        </p:spPr>
        <p:txBody>
          <a:bodyPr wrap="square" lIns="1016" tIns="1016" rIns="1016" bIns="1016" rtlCol="0" anchor="t"/>
          <a:lstStyle/>
          <a:p>
            <a:pPr marL="342900" indent="-342900">
              <a:spcAft>
                <a:spcPts val="600"/>
              </a:spcAft>
              <a:buSzPct val="100000"/>
              <a:buChar char="•"/>
            </a:pPr>
            <a:r>
              <a:rPr lang="en-US" sz="1400" dirty="0">
                <a:solidFill>
                  <a:srgbClr val="1E2A30"/>
                </a:solidFill>
              </a:rPr>
              <a:t>Every arrow is a Python module you can run on its own from the command line.</a:t>
            </a:r>
            <a:endParaRPr lang="en-US" sz="1500" dirty="0"/>
          </a:p>
          <a:p>
            <a:pPr marL="342900" indent="-342900">
              <a:spcAft>
                <a:spcPts val="600"/>
              </a:spcAft>
              <a:buSzPct val="100000"/>
              <a:buChar char="•"/>
            </a:pPr>
            <a:r>
              <a:rPr lang="en-US" sz="1400" dirty="0">
                <a:solidFill>
                  <a:srgbClr val="1E2A30"/>
                </a:solidFill>
              </a:rPr>
              <a:t>The dashboard only reads from the store, so every number it shows comes from a recorded run.</a:t>
            </a:r>
            <a:endParaRPr lang="en-US" sz="1500" dirty="0"/>
          </a:p>
        </p:txBody>
      </p:sp>
      <p:sp>
        <p:nvSpPr>
          <p:cNvPr id="32" name="Source note"/>
          <p:cNvSpPr txBox="1"/>
          <p:nvPr/>
        </p:nvSpPr>
        <p:spPr>
          <a:xfrm>
            <a:off x="548640" y="6355080"/>
            <a:ext cx="10515600" cy="320040"/>
          </a:xfrm>
          <a:prstGeom prst="rect">
            <a:avLst/>
          </a:prstGeom>
          <a:noFill/>
          <a:ln/>
        </p:spPr>
        <p:txBody>
          <a:bodyPr wrap="square" lIns="0" tIns="0" rIns="0" bIns="0" rtlCol="0" anchor="ctr"/>
          <a:lstStyle/>
          <a:p>
            <a:pPr indent="0" marL="0">
              <a:buNone/>
            </a:pPr>
            <a:r>
              <a:rPr lang="en-US" sz="1000" i="1" dirty="0">
                <a:solidFill>
                  <a:srgbClr val="55636A"/>
                </a:solidFill>
              </a:rPr>
              <a:t>Module names verified in hacktwin_run/ (README.md 'Architecture').</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36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Simulation, traces and storage</a:t>
            </a:r>
            <a:endParaRPr lang="en-US" sz="3200" dirty="0"/>
          </a:p>
        </p:txBody>
      </p:sp>
      <p:sp>
        <p:nvSpPr>
          <p:cNvPr id="3" name="Step 1"/>
          <p:cNvSpPr/>
          <p:nvPr/>
        </p:nvSpPr>
        <p:spPr>
          <a:xfrm>
            <a:off x="548640" y="1325880"/>
            <a:ext cx="548640" cy="548640"/>
          </a:xfrm>
          <a:prstGeom prst="ellipse">
            <a:avLst/>
          </a:prstGeom>
          <a:solidFill>
            <a:srgbClr val="0F4C5C"/>
          </a:solidFill>
          <a:ln w="12700">
            <a:solidFill>
              <a:srgbClr val="0F4C5C"/>
            </a:solidFill>
            <a:prstDash val="solid"/>
          </a:ln>
        </p:spPr>
      </p:sp>
      <p:sp>
        <p:nvSpPr>
          <p:cNvPr id="4" name="Text 2"/>
          <p:cNvSpPr txBox="1"/>
          <p:nvPr/>
        </p:nvSpPr>
        <p:spPr>
          <a:xfrm>
            <a:off x="548640" y="1325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5" name="Text 3"/>
          <p:cNvSpPr txBox="1"/>
          <p:nvPr/>
        </p:nvSpPr>
        <p:spPr>
          <a:xfrm>
            <a:off x="1234440" y="1280160"/>
            <a:ext cx="5120640" cy="960120"/>
          </a:xfrm>
          <a:prstGeom prst="rect">
            <a:avLst/>
          </a:prstGeom>
          <a:noFill/>
          <a:ln/>
        </p:spPr>
        <p:txBody>
          <a:bodyPr wrap="square" lIns="1016" tIns="1016" rIns="1016" bIns="1016" rtlCol="0" anchor="t"/>
          <a:lstStyle/>
          <a:p>
            <a:pPr indent="0" marL="0">
              <a:buNone/>
            </a:pPr>
            <a:r>
              <a:rPr lang="en-US" sz="1400" b="1" dirty="0">
                <a:solidFill>
                  <a:srgbClr val="0F4C5C"/>
                </a:solidFill>
              </a:rPr>
              <a:t>Wrap the design: </a:t>
            </a:r>
            <a:pPr indent="0" marL="0">
              <a:buNone/>
            </a:pPr>
            <a:r>
              <a:rPr lang="en-US" sz="1400" dirty="0">
                <a:solidFill>
                  <a:srgbClr val="1E2A30"/>
                </a:solidFill>
              </a:rPr>
              <a:t>The design's CPU and memory are placed in a harness chip that exposes the CPU's signals.</a:t>
            </a:r>
            <a:endParaRPr lang="en-US" sz="1400" dirty="0"/>
          </a:p>
        </p:txBody>
      </p:sp>
      <p:sp>
        <p:nvSpPr>
          <p:cNvPr id="6" name="Step 2"/>
          <p:cNvSpPr/>
          <p:nvPr/>
        </p:nvSpPr>
        <p:spPr>
          <a:xfrm>
            <a:off x="548640" y="2423160"/>
            <a:ext cx="548640" cy="548640"/>
          </a:xfrm>
          <a:prstGeom prst="ellipse">
            <a:avLst/>
          </a:prstGeom>
          <a:solidFill>
            <a:srgbClr val="0F4C5C"/>
          </a:solidFill>
          <a:ln w="12700">
            <a:solidFill>
              <a:srgbClr val="0F4C5C"/>
            </a:solidFill>
            <a:prstDash val="solid"/>
          </a:ln>
        </p:spPr>
      </p:sp>
      <p:sp>
        <p:nvSpPr>
          <p:cNvPr id="7" name="Text 5"/>
          <p:cNvSpPr txBox="1"/>
          <p:nvPr/>
        </p:nvSpPr>
        <p:spPr>
          <a:xfrm>
            <a:off x="548640" y="2423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8" name="Text 6"/>
          <p:cNvSpPr txBox="1"/>
          <p:nvPr/>
        </p:nvSpPr>
        <p:spPr>
          <a:xfrm>
            <a:off x="1234440" y="2377440"/>
            <a:ext cx="5120640" cy="960120"/>
          </a:xfrm>
          <a:prstGeom prst="rect">
            <a:avLst/>
          </a:prstGeom>
          <a:noFill/>
          <a:ln/>
        </p:spPr>
        <p:txBody>
          <a:bodyPr wrap="square" lIns="1016" tIns="1016" rIns="1016" bIns="1016" rtlCol="0" anchor="t"/>
          <a:lstStyle/>
          <a:p>
            <a:pPr indent="0" marL="0">
              <a:buNone/>
            </a:pPr>
            <a:r>
              <a:rPr lang="en-US" sz="1400" b="1" dirty="0">
                <a:solidFill>
                  <a:srgbClr val="0F4C5C"/>
                </a:solidFill>
              </a:rPr>
              <a:t>Run to completion: </a:t>
            </a:r>
            <a:pPr indent="0" marL="0">
              <a:buNone/>
            </a:pPr>
            <a:r>
              <a:rPr lang="en-US" sz="1400" dirty="0">
                <a:solidFill>
                  <a:srgbClr val="1E2A30"/>
                </a:solidFill>
              </a:rPr>
              <a:t>A generated test script runs the program; one row per cycle until it reaches its end loop.</a:t>
            </a:r>
            <a:endParaRPr lang="en-US" sz="1400" dirty="0"/>
          </a:p>
        </p:txBody>
      </p:sp>
      <p:sp>
        <p:nvSpPr>
          <p:cNvPr id="9" name="Step 3"/>
          <p:cNvSpPr/>
          <p:nvPr/>
        </p:nvSpPr>
        <p:spPr>
          <a:xfrm>
            <a:off x="548640" y="3520440"/>
            <a:ext cx="548640" cy="548640"/>
          </a:xfrm>
          <a:prstGeom prst="ellipse">
            <a:avLst/>
          </a:prstGeom>
          <a:solidFill>
            <a:srgbClr val="0F4C5C"/>
          </a:solidFill>
          <a:ln w="12700">
            <a:solidFill>
              <a:srgbClr val="0F4C5C"/>
            </a:solidFill>
            <a:prstDash val="solid"/>
          </a:ln>
        </p:spPr>
      </p:sp>
      <p:sp>
        <p:nvSpPr>
          <p:cNvPr id="10" name="Text 8"/>
          <p:cNvSpPr txBox="1"/>
          <p:nvPr/>
        </p:nvSpPr>
        <p:spPr>
          <a:xfrm>
            <a:off x="5486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1" name="Text 9"/>
          <p:cNvSpPr txBox="1"/>
          <p:nvPr/>
        </p:nvSpPr>
        <p:spPr>
          <a:xfrm>
            <a:off x="1234440" y="3474720"/>
            <a:ext cx="5120640" cy="960120"/>
          </a:xfrm>
          <a:prstGeom prst="rect">
            <a:avLst/>
          </a:prstGeom>
          <a:noFill/>
          <a:ln/>
        </p:spPr>
        <p:txBody>
          <a:bodyPr wrap="square" lIns="1016" tIns="1016" rIns="1016" bIns="1016" rtlCol="0" anchor="t"/>
          <a:lstStyle/>
          <a:p>
            <a:pPr indent="0" marL="0">
              <a:buNone/>
            </a:pPr>
            <a:r>
              <a:rPr lang="en-US" sz="1400" b="1" dirty="0">
                <a:solidFill>
                  <a:srgbClr val="0F4C5C"/>
                </a:solidFill>
              </a:rPr>
              <a:t>Record the trace: </a:t>
            </a:r>
            <a:pPr indent="0" marL="0">
              <a:buNone/>
            </a:pPr>
            <a:r>
              <a:rPr lang="en-US" sz="1400" dirty="0">
                <a:solidFill>
                  <a:srgbClr val="1E2A30"/>
                </a:solidFill>
              </a:rPr>
              <a:t>Program counter, instruction, A and D registers, memory reads/writes, chosen RAM cells.</a:t>
            </a:r>
            <a:endParaRPr lang="en-US" sz="1400" dirty="0"/>
          </a:p>
        </p:txBody>
      </p:sp>
      <p:sp>
        <p:nvSpPr>
          <p:cNvPr id="12" name="Step 4"/>
          <p:cNvSpPr/>
          <p:nvPr/>
        </p:nvSpPr>
        <p:spPr>
          <a:xfrm>
            <a:off x="548640" y="4617720"/>
            <a:ext cx="548640" cy="548640"/>
          </a:xfrm>
          <a:prstGeom prst="ellipse">
            <a:avLst/>
          </a:prstGeom>
          <a:solidFill>
            <a:srgbClr val="0F4C5C"/>
          </a:solidFill>
          <a:ln w="12700">
            <a:solidFill>
              <a:srgbClr val="0F4C5C"/>
            </a:solidFill>
            <a:prstDash val="solid"/>
          </a:ln>
        </p:spPr>
      </p:sp>
      <p:sp>
        <p:nvSpPr>
          <p:cNvPr id="13" name="Text 11"/>
          <p:cNvSpPr txBox="1"/>
          <p:nvPr/>
        </p:nvSpPr>
        <p:spPr>
          <a:xfrm>
            <a:off x="548640" y="4617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4" name="Text 12"/>
          <p:cNvSpPr txBox="1"/>
          <p:nvPr/>
        </p:nvSpPr>
        <p:spPr>
          <a:xfrm>
            <a:off x="1234440" y="4572000"/>
            <a:ext cx="5120640" cy="960120"/>
          </a:xfrm>
          <a:prstGeom prst="rect">
            <a:avLst/>
          </a:prstGeom>
          <a:noFill/>
          <a:ln/>
        </p:spPr>
        <p:txBody>
          <a:bodyPr wrap="square" lIns="1016" tIns="1016" rIns="1016" bIns="1016" rtlCol="0" anchor="t"/>
          <a:lstStyle/>
          <a:p>
            <a:pPr indent="0" marL="0">
              <a:buNone/>
            </a:pPr>
            <a:r>
              <a:rPr lang="en-US" sz="1400" b="1" dirty="0">
                <a:solidFill>
                  <a:srgbClr val="0F4C5C"/>
                </a:solidFill>
              </a:rPr>
              <a:t>Check the result: </a:t>
            </a:r>
            <a:pPr indent="0" marL="0">
              <a:buNone/>
            </a:pPr>
            <a:r>
              <a:rPr lang="en-US" sz="1400" dirty="0">
                <a:solidFill>
                  <a:srgbClr val="1E2A30"/>
                </a:solidFill>
              </a:rPr>
              <a:t>Compare answers with expected values and with an independent model of the Hack instructions.</a:t>
            </a:r>
            <a:endParaRPr lang="en-US" sz="1400" dirty="0"/>
          </a:p>
        </p:txBody>
      </p:sp>
      <p:sp>
        <p:nvSpPr>
          <p:cNvPr id="15" name="Card"/>
          <p:cNvSpPr/>
          <p:nvPr/>
        </p:nvSpPr>
        <p:spPr>
          <a:xfrm>
            <a:off x="6675120" y="1280160"/>
            <a:ext cx="4937760" cy="4526280"/>
          </a:xfrm>
          <a:prstGeom prst="roundRect">
            <a:avLst>
              <a:gd name="adj" fmla="val 1616"/>
            </a:avLst>
          </a:prstGeom>
          <a:solidFill>
            <a:srgbClr val="EEF3F4"/>
          </a:solidFill>
          <a:ln w="12700">
            <a:solidFill>
              <a:srgbClr val="EEF3F4"/>
            </a:solidFill>
            <a:prstDash val="solid"/>
          </a:ln>
        </p:spPr>
      </p:sp>
      <p:sp>
        <p:nvSpPr>
          <p:cNvPr id="16" name="Text 14"/>
          <p:cNvSpPr txBox="1"/>
          <p:nvPr/>
        </p:nvSpPr>
        <p:spPr>
          <a:xfrm>
            <a:off x="6858000" y="1371600"/>
            <a:ext cx="4572000" cy="411480"/>
          </a:xfrm>
          <a:prstGeom prst="rect">
            <a:avLst/>
          </a:prstGeom>
          <a:noFill/>
          <a:ln/>
        </p:spPr>
        <p:txBody>
          <a:bodyPr wrap="square" lIns="1016" tIns="1016" rIns="1016" bIns="1016" rtlCol="0" anchor="t"/>
          <a:lstStyle/>
          <a:p>
            <a:pPr indent="0" marL="0">
              <a:buNone/>
            </a:pPr>
            <a:r>
              <a:rPr lang="en-US" sz="1700" b="1" dirty="0">
                <a:solidFill>
                  <a:srgbClr val="0F4C5C"/>
                </a:solidFill>
              </a:rPr>
              <a:t>What the SQLite twin store keeps</a:t>
            </a:r>
            <a:endParaRPr lang="en-US" sz="1700" dirty="0"/>
          </a:p>
        </p:txBody>
      </p:sp>
      <p:sp>
        <p:nvSpPr>
          <p:cNvPr id="17" name="Text 15"/>
          <p:cNvSpPr txBox="1"/>
          <p:nvPr/>
        </p:nvSpPr>
        <p:spPr>
          <a:xfrm>
            <a:off x="6858000" y="1828800"/>
            <a:ext cx="4572000" cy="3931920"/>
          </a:xfrm>
          <a:prstGeom prst="rect">
            <a:avLst/>
          </a:prstGeom>
          <a:noFill/>
          <a:ln/>
        </p:spPr>
        <p:txBody>
          <a:bodyPr wrap="square" lIns="1016" tIns="1016" rIns="1016" bIns="1016" rtlCol="0" anchor="t"/>
          <a:lstStyle/>
          <a:p>
            <a:pPr marL="342900" indent="-342900">
              <a:spcAft>
                <a:spcPts val="600"/>
              </a:spcAft>
              <a:buSzPct val="100000"/>
              <a:buChar char="•"/>
            </a:pPr>
            <a:r>
              <a:rPr lang="en-US" sz="1400" dirty="0">
                <a:solidFill>
                  <a:srgbClr val="1E2A30"/>
                </a:solidFill>
              </a:rPr>
              <a:t>Designs with three identities: file hash, comment-free hash, wiring (netlist) hash</a:t>
            </a:r>
            <a:endParaRPr lang="en-US" sz="1500" dirty="0"/>
          </a:p>
          <a:p>
            <a:pPr marL="342900" indent="-342900">
              <a:spcAft>
                <a:spcPts val="600"/>
              </a:spcAft>
              <a:buSzPct val="100000"/>
              <a:buChar char="•"/>
            </a:pPr>
            <a:r>
              <a:rPr lang="en-US" sz="1400" dirty="0">
                <a:solidFill>
                  <a:srgbClr val="1E2A30"/>
                </a:solidFill>
              </a:rPr>
              <a:t>Design history: which design each variant came from</a:t>
            </a:r>
            <a:endParaRPr lang="en-US" sz="1500" dirty="0"/>
          </a:p>
          <a:p>
            <a:pPr marL="342900" indent="-342900">
              <a:spcAft>
                <a:spcPts val="600"/>
              </a:spcAft>
              <a:buSzPct val="100000"/>
              <a:buChar char="•"/>
            </a:pPr>
            <a:r>
              <a:rPr lang="en-US" sz="1400" dirty="0">
                <a:solidFill>
                  <a:srgbClr val="1E2A30"/>
                </a:solidFill>
              </a:rPr>
              <a:t>Every run, including failures and their error messages</a:t>
            </a:r>
            <a:endParaRPr lang="en-US" sz="1500" dirty="0"/>
          </a:p>
          <a:p>
            <a:pPr marL="342900" indent="-342900">
              <a:spcAft>
                <a:spcPts val="600"/>
              </a:spcAft>
              <a:buSzPct val="100000"/>
              <a:buChar char="•"/>
            </a:pPr>
            <a:r>
              <a:rPr lang="en-US" sz="1400" dirty="0">
                <a:solidFill>
                  <a:srgbClr val="1E2A30"/>
                </a:solidFill>
              </a:rPr>
              <a:t>Compressed traces and the raw simulator output</a:t>
            </a:r>
            <a:endParaRPr lang="en-US" sz="1500" dirty="0"/>
          </a:p>
          <a:p>
            <a:pPr marL="342900" indent="-342900">
              <a:spcAft>
                <a:spcPts val="600"/>
              </a:spcAft>
              <a:buSzPct val="100000"/>
              <a:buChar char="•"/>
            </a:pPr>
            <a:r>
              <a:rPr lang="en-US" sz="1400" dirty="0">
                <a:solidFill>
                  <a:srgbClr val="1E2A30"/>
                </a:solidFill>
              </a:rPr>
              <a:t>Official test results, experiments, background jobs, GitHub provenance</a:t>
            </a:r>
            <a:endParaRPr lang="en-US" sz="1500" dirty="0"/>
          </a:p>
          <a:p>
            <a:pPr marL="342900" indent="-342900">
              <a:spcAft>
                <a:spcPts val="600"/>
              </a:spcAft>
              <a:buSzPct val="100000"/>
              <a:buChar char="•"/>
            </a:pPr>
            <a:r>
              <a:rPr lang="en-US" sz="1400" dirty="0">
                <a:solidFill>
                  <a:srgbClr val="1E2A30"/>
                </a:solidFill>
              </a:rPr>
              <a:t>Versioned schema (now v3); the old database was upgraded in place</a:t>
            </a:r>
            <a:endParaRPr lang="en-US" sz="1500" dirty="0"/>
          </a:p>
        </p:txBody>
      </p:sp>
      <p:sp>
        <p:nvSpPr>
          <p:cNvPr id="18" name="Source note"/>
          <p:cNvSpPr txBox="1"/>
          <p:nvPr/>
        </p:nvSpPr>
        <p:spPr>
          <a:xfrm>
            <a:off x="548640" y="6355080"/>
            <a:ext cx="10515600" cy="320040"/>
          </a:xfrm>
          <a:prstGeom prst="rect">
            <a:avLst/>
          </a:prstGeom>
          <a:noFill/>
          <a:ln/>
        </p:spPr>
        <p:txBody>
          <a:bodyPr wrap="square" lIns="0" tIns="0" rIns="0" bIns="0" rtlCol="0" anchor="ctr"/>
          <a:lstStyle/>
          <a:p>
            <a:pPr indent="0" marL="0">
              <a:buNone/>
            </a:pPr>
            <a:r>
              <a:rPr lang="en-US" sz="1000" i="1" dirty="0">
                <a:solidFill>
                  <a:srgbClr val="55636A"/>
                </a:solidFill>
              </a:rPr>
              <a:t>sim_runner.py, harness/TwinComputer.hdl, twin_store.py (migrations v1–v3), hdl_inspector.py.</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36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Analysis, comparison and recommendations</a:t>
            </a:r>
            <a:endParaRPr lang="en-US" sz="3200" dirty="0"/>
          </a:p>
        </p:txBody>
      </p:sp>
      <p:sp>
        <p:nvSpPr>
          <p:cNvPr id="3" name="Card"/>
          <p:cNvSpPr/>
          <p:nvPr/>
        </p:nvSpPr>
        <p:spPr>
          <a:xfrm>
            <a:off x="548640" y="1280160"/>
            <a:ext cx="5440680" cy="2194560"/>
          </a:xfrm>
          <a:prstGeom prst="roundRect">
            <a:avLst>
              <a:gd name="adj" fmla="val 3333"/>
            </a:avLst>
          </a:prstGeom>
          <a:solidFill>
            <a:srgbClr val="EEF3F4"/>
          </a:solidFill>
          <a:ln w="12700">
            <a:solidFill>
              <a:srgbClr val="EEF3F4"/>
            </a:solidFill>
            <a:prstDash val="solid"/>
          </a:ln>
        </p:spPr>
      </p:sp>
      <p:sp>
        <p:nvSpPr>
          <p:cNvPr id="4" name="Text 2"/>
          <p:cNvSpPr txBox="1"/>
          <p:nvPr/>
        </p:nvSpPr>
        <p:spPr>
          <a:xfrm>
            <a:off x="731520" y="1389888"/>
            <a:ext cx="5029200" cy="411480"/>
          </a:xfrm>
          <a:prstGeom prst="rect">
            <a:avLst/>
          </a:prstGeom>
          <a:noFill/>
          <a:ln/>
        </p:spPr>
        <p:txBody>
          <a:bodyPr wrap="square" lIns="1016" tIns="1016" rIns="1016" bIns="1016" rtlCol="0" anchor="t"/>
          <a:lstStyle/>
          <a:p>
            <a:pPr indent="0" marL="0">
              <a:buNone/>
            </a:pPr>
            <a:r>
              <a:rPr lang="en-US" sz="1700" b="1" dirty="0">
                <a:solidFill>
                  <a:srgbClr val="0F4C5C"/>
                </a:solidFill>
              </a:rPr>
              <a:t>Bottleneck analysis</a:t>
            </a:r>
            <a:endParaRPr lang="en-US" sz="1700" dirty="0"/>
          </a:p>
        </p:txBody>
      </p:sp>
      <p:sp>
        <p:nvSpPr>
          <p:cNvPr id="5" name="Text 3"/>
          <p:cNvSpPr txBox="1"/>
          <p:nvPr/>
        </p:nvSpPr>
        <p:spPr>
          <a:xfrm>
            <a:off x="731520" y="1847088"/>
            <a:ext cx="5120640" cy="1554480"/>
          </a:xfrm>
          <a:prstGeom prst="rect">
            <a:avLst/>
          </a:prstGeom>
          <a:noFill/>
          <a:ln/>
        </p:spPr>
        <p:txBody>
          <a:bodyPr wrap="square" lIns="1016" tIns="1016" rIns="1016" bIns="1016" rtlCol="0" anchor="t"/>
          <a:lstStyle/>
          <a:p>
            <a:pPr indent="0" marL="0">
              <a:buNone/>
            </a:pPr>
            <a:r>
              <a:rPr lang="en-US" sz="1400" dirty="0">
                <a:solidFill>
                  <a:srgbClr val="1E2A30"/>
                </a:solidFill>
              </a:rPr>
              <a:t>A bottleneck is a part of the run that uses a large share of cycles. HackTwin shows the busiest instruction addresses, loops, register and memory activity. Findings are labelled observation, heuristic, confirmed problem or data-quality warning.</a:t>
            </a:r>
            <a:endParaRPr lang="en-US" sz="1400" dirty="0"/>
          </a:p>
        </p:txBody>
      </p:sp>
      <p:sp>
        <p:nvSpPr>
          <p:cNvPr id="6" name="Card"/>
          <p:cNvSpPr/>
          <p:nvPr/>
        </p:nvSpPr>
        <p:spPr>
          <a:xfrm>
            <a:off x="6172200" y="1280160"/>
            <a:ext cx="5440680" cy="2194560"/>
          </a:xfrm>
          <a:prstGeom prst="roundRect">
            <a:avLst>
              <a:gd name="adj" fmla="val 3333"/>
            </a:avLst>
          </a:prstGeom>
          <a:solidFill>
            <a:srgbClr val="EEF3F4"/>
          </a:solidFill>
          <a:ln w="12700">
            <a:solidFill>
              <a:srgbClr val="EEF3F4"/>
            </a:solidFill>
            <a:prstDash val="solid"/>
          </a:ln>
        </p:spPr>
      </p:sp>
      <p:sp>
        <p:nvSpPr>
          <p:cNvPr id="7" name="Text 5"/>
          <p:cNvSpPr txBox="1"/>
          <p:nvPr/>
        </p:nvSpPr>
        <p:spPr>
          <a:xfrm>
            <a:off x="6355080" y="1389888"/>
            <a:ext cx="5029200" cy="411480"/>
          </a:xfrm>
          <a:prstGeom prst="rect">
            <a:avLst/>
          </a:prstGeom>
          <a:noFill/>
          <a:ln/>
        </p:spPr>
        <p:txBody>
          <a:bodyPr wrap="square" lIns="1016" tIns="1016" rIns="1016" bIns="1016" rtlCol="0" anchor="t"/>
          <a:lstStyle/>
          <a:p>
            <a:pPr indent="0" marL="0">
              <a:buNone/>
            </a:pPr>
            <a:r>
              <a:rPr lang="en-US" sz="1700" b="1" dirty="0">
                <a:solidFill>
                  <a:srgbClr val="0F4C5C"/>
                </a:solidFill>
              </a:rPr>
              <a:t>Comparison</a:t>
            </a:r>
            <a:endParaRPr lang="en-US" sz="1700" dirty="0"/>
          </a:p>
        </p:txBody>
      </p:sp>
      <p:sp>
        <p:nvSpPr>
          <p:cNvPr id="8" name="Text 6"/>
          <p:cNvSpPr txBox="1"/>
          <p:nvPr/>
        </p:nvSpPr>
        <p:spPr>
          <a:xfrm>
            <a:off x="6355080" y="1847088"/>
            <a:ext cx="5120640" cy="1554480"/>
          </a:xfrm>
          <a:prstGeom prst="rect">
            <a:avLst/>
          </a:prstGeom>
          <a:noFill/>
          <a:ln/>
        </p:spPr>
        <p:txBody>
          <a:bodyPr wrap="square" lIns="1016" tIns="1016" rIns="1016" bIns="1016" rtlCol="0" anchor="t"/>
          <a:lstStyle/>
          <a:p>
            <a:pPr indent="0" marL="0">
              <a:buNone/>
            </a:pPr>
            <a:r>
              <a:rPr lang="en-US" sz="1400" dirty="0">
                <a:solidFill>
                  <a:srgbClr val="1E2A30"/>
                </a:solidFill>
              </a:rPr>
              <a:t>Same program, same inputs, only correct and completed runs. Speedup = baseline cycles ÷ candidate cycles. Failed or missing runs are listed, never counted as zero.</a:t>
            </a:r>
            <a:endParaRPr lang="en-US" sz="1400" dirty="0"/>
          </a:p>
        </p:txBody>
      </p:sp>
      <p:sp>
        <p:nvSpPr>
          <p:cNvPr id="9" name="Card"/>
          <p:cNvSpPr/>
          <p:nvPr/>
        </p:nvSpPr>
        <p:spPr>
          <a:xfrm>
            <a:off x="548640" y="3657600"/>
            <a:ext cx="5440680" cy="2194560"/>
          </a:xfrm>
          <a:prstGeom prst="roundRect">
            <a:avLst>
              <a:gd name="adj" fmla="val 3333"/>
            </a:avLst>
          </a:prstGeom>
          <a:solidFill>
            <a:srgbClr val="EEF3F4"/>
          </a:solidFill>
          <a:ln w="12700">
            <a:solidFill>
              <a:srgbClr val="EEF3F4"/>
            </a:solidFill>
            <a:prstDash val="solid"/>
          </a:ln>
        </p:spPr>
      </p:sp>
      <p:sp>
        <p:nvSpPr>
          <p:cNvPr id="10" name="Text 8"/>
          <p:cNvSpPr txBox="1"/>
          <p:nvPr/>
        </p:nvSpPr>
        <p:spPr>
          <a:xfrm>
            <a:off x="731520" y="3767328"/>
            <a:ext cx="5029200" cy="411480"/>
          </a:xfrm>
          <a:prstGeom prst="rect">
            <a:avLst/>
          </a:prstGeom>
          <a:noFill/>
          <a:ln/>
        </p:spPr>
        <p:txBody>
          <a:bodyPr wrap="square" lIns="1016" tIns="1016" rIns="1016" bIns="1016" rtlCol="0" anchor="t"/>
          <a:lstStyle/>
          <a:p>
            <a:pPr indent="0" marL="0">
              <a:buNone/>
            </a:pPr>
            <a:r>
              <a:rPr lang="en-US" sz="1700" b="1" dirty="0">
                <a:solidFill>
                  <a:srgbClr val="0F4C5C"/>
                </a:solidFill>
              </a:rPr>
              <a:t>Ranking</a:t>
            </a:r>
            <a:endParaRPr lang="en-US" sz="1700" dirty="0"/>
          </a:p>
        </p:txBody>
      </p:sp>
      <p:sp>
        <p:nvSpPr>
          <p:cNvPr id="11" name="Text 9"/>
          <p:cNvSpPr txBox="1"/>
          <p:nvPr/>
        </p:nvSpPr>
        <p:spPr>
          <a:xfrm>
            <a:off x="731520" y="4224528"/>
            <a:ext cx="5120640" cy="1554480"/>
          </a:xfrm>
          <a:prstGeom prst="rect">
            <a:avLst/>
          </a:prstGeom>
          <a:noFill/>
          <a:ln/>
        </p:spPr>
        <p:txBody>
          <a:bodyPr wrap="square" lIns="1016" tIns="1016" rIns="1016" bIns="1016" rtlCol="0" anchor="t"/>
          <a:lstStyle/>
          <a:p>
            <a:pPr indent="0" marL="0">
              <a:buNone/>
            </a:pPr>
            <a:r>
              <a:rPr lang="en-US" sz="1400" dirty="0">
                <a:solidFill>
                  <a:srgbClr val="1E2A30"/>
                </a:solidFill>
              </a:rPr>
              <a:t>One documented metric: average (geometric mean) speedup over all core cases. Designs that are wrong on any case are not ranked. Ties are shown as ties.</a:t>
            </a:r>
            <a:endParaRPr lang="en-US" sz="1400" dirty="0"/>
          </a:p>
        </p:txBody>
      </p:sp>
      <p:sp>
        <p:nvSpPr>
          <p:cNvPr id="12" name="Card"/>
          <p:cNvSpPr/>
          <p:nvPr/>
        </p:nvSpPr>
        <p:spPr>
          <a:xfrm>
            <a:off x="6172200" y="3657600"/>
            <a:ext cx="5440680" cy="2194560"/>
          </a:xfrm>
          <a:prstGeom prst="roundRect">
            <a:avLst>
              <a:gd name="adj" fmla="val 3333"/>
            </a:avLst>
          </a:prstGeom>
          <a:solidFill>
            <a:srgbClr val="EEF3F4"/>
          </a:solidFill>
          <a:ln w="12700">
            <a:solidFill>
              <a:srgbClr val="EEF3F4"/>
            </a:solidFill>
            <a:prstDash val="solid"/>
          </a:ln>
        </p:spPr>
      </p:sp>
      <p:sp>
        <p:nvSpPr>
          <p:cNvPr id="13" name="Text 11"/>
          <p:cNvSpPr txBox="1"/>
          <p:nvPr/>
        </p:nvSpPr>
        <p:spPr>
          <a:xfrm>
            <a:off x="6355080" y="3767328"/>
            <a:ext cx="5029200" cy="411480"/>
          </a:xfrm>
          <a:prstGeom prst="rect">
            <a:avLst/>
          </a:prstGeom>
          <a:noFill/>
          <a:ln/>
        </p:spPr>
        <p:txBody>
          <a:bodyPr wrap="square" lIns="1016" tIns="1016" rIns="1016" bIns="1016" rtlCol="0" anchor="t"/>
          <a:lstStyle/>
          <a:p>
            <a:pPr indent="0" marL="0">
              <a:buNone/>
            </a:pPr>
            <a:r>
              <a:rPr lang="en-US" sz="1700" b="1" dirty="0">
                <a:solidFill>
                  <a:srgbClr val="0F4C5C"/>
                </a:solidFill>
              </a:rPr>
              <a:t>Recommendations</a:t>
            </a:r>
            <a:endParaRPr lang="en-US" sz="1700" dirty="0"/>
          </a:p>
        </p:txBody>
      </p:sp>
      <p:sp>
        <p:nvSpPr>
          <p:cNvPr id="14" name="Text 12"/>
          <p:cNvSpPr txBox="1"/>
          <p:nvPr/>
        </p:nvSpPr>
        <p:spPr>
          <a:xfrm>
            <a:off x="6355080" y="4224528"/>
            <a:ext cx="5120640" cy="1554480"/>
          </a:xfrm>
          <a:prstGeom prst="rect">
            <a:avLst/>
          </a:prstGeom>
          <a:noFill/>
          <a:ln/>
        </p:spPr>
        <p:txBody>
          <a:bodyPr wrap="square" lIns="1016" tIns="1016" rIns="1016" bIns="1016" rtlCol="0" anchor="t"/>
          <a:lstStyle/>
          <a:p>
            <a:pPr indent="0" marL="0">
              <a:buNone/>
            </a:pPr>
            <a:r>
              <a:rPr lang="en-US" sz="1400" dirty="0">
                <a:solidFill>
                  <a:srgbClr val="1E2A30"/>
                </a:solidFill>
              </a:rPr>
              <a:t>Each suggestion names the evidence and an experiment. It is marked 'verified' only when the suggested design was actually simulated and used fewer cycles.</a:t>
            </a:r>
            <a:endParaRPr lang="en-US" sz="1400" dirty="0"/>
          </a:p>
        </p:txBody>
      </p:sp>
      <p:sp>
        <p:nvSpPr>
          <p:cNvPr id="15" name="Source note"/>
          <p:cNvSpPr txBox="1"/>
          <p:nvPr/>
        </p:nvSpPr>
        <p:spPr>
          <a:xfrm>
            <a:off x="548640" y="6355080"/>
            <a:ext cx="10515600" cy="320040"/>
          </a:xfrm>
          <a:prstGeom prst="rect">
            <a:avLst/>
          </a:prstGeom>
          <a:noFill/>
          <a:ln/>
        </p:spPr>
        <p:txBody>
          <a:bodyPr wrap="square" lIns="0" tIns="0" rIns="0" bIns="0" rtlCol="0" anchor="ctr"/>
          <a:lstStyle/>
          <a:p>
            <a:pPr indent="0" marL="0">
              <a:buNone/>
            </a:pPr>
            <a:r>
              <a:rPr lang="en-US" sz="1000" i="1" dirty="0">
                <a:solidFill>
                  <a:srgbClr val="55636A"/>
                </a:solidFill>
              </a:rPr>
              <a:t>bottleneck_analysis.py, comparison_engine.py (rank_program_designs), recommendation_generator.py.</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36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GitHub data and machine learning</a:t>
            </a:r>
            <a:endParaRPr lang="en-US" sz="3200" dirty="0"/>
          </a:p>
        </p:txBody>
      </p:sp>
      <p:sp>
        <p:nvSpPr>
          <p:cNvPr id="3" name="Card"/>
          <p:cNvSpPr/>
          <p:nvPr/>
        </p:nvSpPr>
        <p:spPr>
          <a:xfrm>
            <a:off x="548640" y="1280160"/>
            <a:ext cx="5394960" cy="4892040"/>
          </a:xfrm>
          <a:prstGeom prst="roundRect">
            <a:avLst>
              <a:gd name="adj" fmla="val 1495"/>
            </a:avLst>
          </a:prstGeom>
          <a:solidFill>
            <a:srgbClr val="EEF3F4"/>
          </a:solidFill>
          <a:ln w="12700">
            <a:solidFill>
              <a:srgbClr val="EEF3F4"/>
            </a:solidFill>
            <a:prstDash val="solid"/>
          </a:ln>
        </p:spPr>
      </p:sp>
      <p:sp>
        <p:nvSpPr>
          <p:cNvPr id="4" name="Text 2"/>
          <p:cNvSpPr txBox="1"/>
          <p:nvPr/>
        </p:nvSpPr>
        <p:spPr>
          <a:xfrm>
            <a:off x="731520" y="1371600"/>
            <a:ext cx="5029200" cy="411480"/>
          </a:xfrm>
          <a:prstGeom prst="rect">
            <a:avLst/>
          </a:prstGeom>
          <a:noFill/>
          <a:ln/>
        </p:spPr>
        <p:txBody>
          <a:bodyPr wrap="square" lIns="1016" tIns="1016" rIns="1016" bIns="1016" rtlCol="0" anchor="t"/>
          <a:lstStyle/>
          <a:p>
            <a:pPr indent="0" marL="0">
              <a:buNone/>
            </a:pPr>
            <a:r>
              <a:rPr lang="en-US" sz="1700" b="1" dirty="0">
                <a:solidFill>
                  <a:srgbClr val="0F4C5C"/>
                </a:solidFill>
              </a:rPr>
              <a:t>Two GitHub datasets</a:t>
            </a:r>
            <a:endParaRPr lang="en-US" sz="1700" dirty="0"/>
          </a:p>
        </p:txBody>
      </p:sp>
      <p:sp>
        <p:nvSpPr>
          <p:cNvPr id="5" name="Text 3"/>
          <p:cNvSpPr txBox="1"/>
          <p:nvPr/>
        </p:nvSpPr>
        <p:spPr>
          <a:xfrm>
            <a:off x="731520" y="1828800"/>
            <a:ext cx="5029200" cy="4206240"/>
          </a:xfrm>
          <a:prstGeom prst="rect">
            <a:avLst/>
          </a:prstGeom>
          <a:noFill/>
          <a:ln/>
        </p:spPr>
        <p:txBody>
          <a:bodyPr wrap="square" lIns="1016" tIns="1016" rIns="1016" bIns="1016" rtlCol="0" anchor="t"/>
          <a:lstStyle/>
          <a:p>
            <a:pPr marL="342900" indent="-342900">
              <a:spcAft>
                <a:spcPts val="600"/>
              </a:spcAft>
              <a:buSzPct val="100000"/>
              <a:buChar char="•"/>
            </a:pPr>
            <a:r>
              <a:rPr lang="en-US" sz="1400" dirty="0">
                <a:solidFill>
                  <a:srgbClr val="1E2A30"/>
                </a:solidFill>
              </a:rPr>
              <a:t>Programs: 50 Hack programs from six pinned, MIT/Apache repositories (Gunasekare, ArhanChaudhary, y1hao, aalhour, appleweiping, AdamJelley).</a:t>
            </a:r>
            <a:endParaRPr lang="en-US" sz="1500" dirty="0"/>
          </a:p>
          <a:p>
            <a:pPr marL="342900" indent="-342900">
              <a:spcAft>
                <a:spcPts val="600"/>
              </a:spcAft>
              <a:buSzPct val="100000"/>
              <a:buChar char="•"/>
            </a:pPr>
            <a:r>
              <a:rPr lang="en-US" sz="1400" dirty="0">
                <a:solidFill>
                  <a:srgbClr val="1E2A30"/>
                </a:solidFill>
              </a:rPr>
              <a:t>CPU designs: 1,346 repositories found by search; 339 retrieved; 344 CPU folders; 208 passed every test.</a:t>
            </a:r>
            <a:endParaRPr lang="en-US" sz="1500" dirty="0"/>
          </a:p>
          <a:p>
            <a:pPr marL="342900" indent="-342900">
              <a:spcAft>
                <a:spcPts val="600"/>
              </a:spcAft>
              <a:buSzPct val="100000"/>
              <a:buChar char="•"/>
            </a:pPr>
            <a:r>
              <a:rPr lang="en-US" sz="1400" dirty="0">
                <a:solidFill>
                  <a:srgbClr val="1E2A30"/>
                </a:solidFill>
              </a:rPr>
              <a:t>Only .hdl files fetched, by exact commit; no repository code is run; licences recorded (189 repositories have none).</a:t>
            </a:r>
            <a:endParaRPr lang="en-US" sz="1500" dirty="0"/>
          </a:p>
        </p:txBody>
      </p:sp>
      <p:sp>
        <p:nvSpPr>
          <p:cNvPr id="6" name="Card"/>
          <p:cNvSpPr/>
          <p:nvPr/>
        </p:nvSpPr>
        <p:spPr>
          <a:xfrm>
            <a:off x="6217920" y="1280160"/>
            <a:ext cx="5394960" cy="2286000"/>
          </a:xfrm>
          <a:prstGeom prst="roundRect">
            <a:avLst>
              <a:gd name="adj" fmla="val 3200"/>
            </a:avLst>
          </a:prstGeom>
          <a:solidFill>
            <a:srgbClr val="FFFFFF"/>
          </a:solidFill>
          <a:ln w="12700">
            <a:solidFill>
              <a:srgbClr val="5B8C85"/>
            </a:solidFill>
            <a:prstDash val="solid"/>
          </a:ln>
        </p:spPr>
      </p:sp>
      <p:sp>
        <p:nvSpPr>
          <p:cNvPr id="7" name="Text 5"/>
          <p:cNvSpPr txBox="1"/>
          <p:nvPr/>
        </p:nvSpPr>
        <p:spPr>
          <a:xfrm>
            <a:off x="6355080" y="1371600"/>
            <a:ext cx="5120640" cy="2148840"/>
          </a:xfrm>
          <a:prstGeom prst="rect">
            <a:avLst/>
          </a:prstGeom>
          <a:noFill/>
          <a:ln/>
        </p:spPr>
        <p:txBody>
          <a:bodyPr wrap="square" lIns="1016" tIns="1016" rIns="1016" bIns="1016" rtlCol="0" anchor="t"/>
          <a:lstStyle/>
          <a:p>
            <a:pPr indent="0" marL="0">
              <a:buNone/>
            </a:pPr>
            <a:r>
              <a:rPr lang="en-US" sz="1400" b="1" dirty="0">
                <a:solidFill>
                  <a:srgbClr val="0F4C5C"/>
                </a:solidFill>
              </a:rPr>
              <a:t>Machine-learning model: </a:t>
            </a:r>
            <a:pPr indent="0" marL="0">
              <a:buNone/>
            </a:pPr>
            <a:r>
              <a:rPr lang="en-US" sz="1400" dirty="0">
                <a:solidFill>
                  <a:srgbClr val="1E2A30"/>
                </a:solidFill>
              </a:rPr>
              <a:t>a program that learns a pattern from examples. Ours predicts a design's cycle count from features of the program. </a:t>
            </a:r>
            <a:pPr indent="0" marL="0">
              <a:buNone/>
            </a:pPr>
            <a:r>
              <a:rPr lang="en-US" sz="1400" b="1" dirty="0">
                <a:solidFill>
                  <a:srgbClr val="0F4C5C"/>
                </a:solidFill>
              </a:rPr>
              <a:t>Prediction error </a:t>
            </a:r>
            <a:pPr indent="0" marL="0">
              <a:buNone/>
            </a:pPr>
            <a:r>
              <a:rPr lang="en-US" sz="1400" dirty="0">
                <a:solidFill>
                  <a:srgbClr val="1E2A30"/>
                </a:solidFill>
              </a:rPr>
              <a:t>is predicted minus measured cycles; we report the mean absolute error (MAE), tested only on programs held out from training.</a:t>
            </a:r>
            <a:endParaRPr lang="en-US" sz="1400" dirty="0"/>
          </a:p>
        </p:txBody>
      </p:sp>
      <p:graphicFrame>
        <p:nvGraphicFramePr>
          <p:cNvPr id="9" name="Predictor table"/>
          <p:cNvGraphicFramePr>
            <a:graphicFrameLocks noGrp="1"/>
          </p:cNvGraphicFramePr>
          <p:nvPr>
            <p:extLst>
              <p:ext uri="{D42A27DB-BD31-4B8C-83A1-F6EECF244321}">
                <p14:modId xmlns:p14="http://schemas.microsoft.com/office/powerpoint/2010/main" val="1579011935"/>
              </p:ext>
            </p:extLst>
          </p:nvPr>
        </p:nvGraphicFramePr>
        <p:xfrm>
          <a:off x="6217920" y="3703320"/>
          <a:ext cx="5394960" cy="914400"/>
        </p:xfrm>
        <a:graphic>
          <a:graphicData uri="http://schemas.openxmlformats.org/drawingml/2006/table">
            <a:tbl>
              <a:tblPr/>
              <a:tblGrid>
                <a:gridCol w="4023360"/>
                <a:gridCol w="1371600"/>
              </a:tblGrid>
              <a:tr h="329184">
                <a:tc>
                  <a:txBody>
                    <a:bodyPr/>
                    <a:lstStyle/>
                    <a:p>
                      <a:pPr indent="0" marL="0">
                        <a:buNone/>
                      </a:pPr>
                      <a:r>
                        <a:rPr lang="en-US" sz="1300" b="1" dirty="0">
                          <a:solidFill>
                            <a:srgbClr val="FFFFFF"/>
                          </a:solidFill>
                        </a:rPr>
                        <a:t>Predictor (held-out programs)</a:t>
                      </a:r>
                      <a:endParaRPr lang="en-US" sz="13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F4C5C"/>
                    </a:solidFill>
                  </a:tcPr>
                </a:tc>
                <a:tc>
                  <a:txBody>
                    <a:bodyPr/>
                    <a:lstStyle/>
                    <a:p>
                      <a:pPr indent="0" marL="0">
                        <a:buNone/>
                      </a:pPr>
                      <a:r>
                        <a:rPr lang="en-US" sz="1300" b="1" dirty="0">
                          <a:solidFill>
                            <a:srgbClr val="FFFFFF"/>
                          </a:solidFill>
                        </a:rPr>
                        <a:t>MAE, cycles</a:t>
                      </a:r>
                      <a:endParaRPr lang="en-US" sz="13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F4C5C"/>
                    </a:solidFill>
                  </a:tcPr>
                </a:tc>
              </a:tr>
              <a:tr h="329184">
                <a:tc>
                  <a:txBody>
                    <a:bodyPr/>
                    <a:lstStyle/>
                    <a:p>
                      <a:pPr indent="0" marL="0">
                        <a:buNone/>
                      </a:pPr>
                      <a:r>
                        <a:rPr lang="en-US" sz="1200" dirty="0">
                          <a:solidFill>
                            <a:srgbClr val="1E2A30"/>
                          </a:solidFill>
                        </a:rPr>
                        <a:t>Instruction model + per-design calibration</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c>
                  <a:txBody>
                    <a:bodyPr/>
                    <a:lstStyle/>
                    <a:p>
                      <a:pPr indent="0" marL="0">
                        <a:buNone/>
                      </a:pPr>
                      <a:r>
                        <a:rPr lang="en-US" sz="1200" dirty="0">
                          <a:solidFill>
                            <a:srgbClr val="1E2A30"/>
                          </a:solidFill>
                        </a:rPr>
                        <a:t>0.60</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r>
              <a:tr h="329184">
                <a:tc>
                  <a:txBody>
                    <a:bodyPr/>
                    <a:lstStyle/>
                    <a:p>
                      <a:pPr indent="0" marL="0">
                        <a:buNone/>
                      </a:pPr>
                      <a:r>
                        <a:rPr lang="en-US" sz="1200" dirty="0">
                          <a:solidFill>
                            <a:srgbClr val="1E2A30"/>
                          </a:solidFill>
                        </a:rPr>
                        <a:t>ML (ExtraTrees), all features</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c>
                  <a:txBody>
                    <a:bodyPr/>
                    <a:lstStyle/>
                    <a:p>
                      <a:pPr indent="0" marL="0">
                        <a:buNone/>
                      </a:pPr>
                      <a:r>
                        <a:rPr lang="en-US" sz="1200" dirty="0">
                          <a:solidFill>
                            <a:srgbClr val="1E2A30"/>
                          </a:solidFill>
                        </a:rPr>
                        <a:t>53.7</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r>
              <a:tr h="329184">
                <a:tc>
                  <a:txBody>
                    <a:bodyPr/>
                    <a:lstStyle/>
                    <a:p>
                      <a:pPr indent="0" marL="0">
                        <a:buNone/>
                      </a:pPr>
                      <a:r>
                        <a:rPr lang="en-US" sz="1200" dirty="0">
                          <a:solidFill>
                            <a:srgbClr val="1E2A30"/>
                          </a:solidFill>
                        </a:rPr>
                        <a:t>ML, program-text features only</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c>
                  <a:txBody>
                    <a:bodyPr/>
                    <a:lstStyle/>
                    <a:p>
                      <a:pPr indent="0" marL="0">
                        <a:buNone/>
                      </a:pPr>
                      <a:r>
                        <a:rPr lang="en-US" sz="1200" dirty="0">
                          <a:solidFill>
                            <a:srgbClr val="1E2A30"/>
                          </a:solidFill>
                        </a:rPr>
                        <a:t>403.5</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r>
              <a:tr h="329184">
                <a:tc>
                  <a:txBody>
                    <a:bodyPr/>
                    <a:lstStyle/>
                    <a:p>
                      <a:pPr indent="0" marL="0">
                        <a:buNone/>
                      </a:pPr>
                      <a:r>
                        <a:rPr lang="en-US" sz="1200" dirty="0">
                          <a:solidFill>
                            <a:srgbClr val="1E2A30"/>
                          </a:solidFill>
                        </a:rPr>
                        <a:t>Median guess (baseline)</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c>
                  <a:txBody>
                    <a:bodyPr/>
                    <a:lstStyle/>
                    <a:p>
                      <a:pPr indent="0" marL="0">
                        <a:buNone/>
                      </a:pPr>
                      <a:r>
                        <a:rPr lang="en-US" sz="1200" dirty="0">
                          <a:solidFill>
                            <a:srgbClr val="1E2A30"/>
                          </a:solidFill>
                        </a:rPr>
                        <a:t>490.0</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r>
            </a:tbl>
          </a:graphicData>
        </a:graphic>
      </p:graphicFrame>
      <p:sp>
        <p:nvSpPr>
          <p:cNvPr id="9" name="Text 6"/>
          <p:cNvSpPr txBox="1"/>
          <p:nvPr/>
        </p:nvSpPr>
        <p:spPr>
          <a:xfrm>
            <a:off x="6217920" y="5440680"/>
            <a:ext cx="5394960" cy="365760"/>
          </a:xfrm>
          <a:prstGeom prst="rect">
            <a:avLst/>
          </a:prstGeom>
          <a:noFill/>
          <a:ln/>
        </p:spPr>
        <p:txBody>
          <a:bodyPr wrap="square" lIns="1016" tIns="1016" rIns="1016" bIns="1016" rtlCol="0" anchor="t"/>
          <a:lstStyle/>
          <a:p>
            <a:pPr indent="0" marL="0">
              <a:buNone/>
            </a:pPr>
            <a:r>
              <a:rPr lang="en-US" sz="1300" i="1" dirty="0">
                <a:solidFill>
                  <a:srgbClr val="B5543C"/>
                </a:solidFill>
              </a:rPr>
              <a:t>Estimates only; not valid for an unseen design type.</a:t>
            </a:r>
            <a:endParaRPr lang="en-US" sz="1300" dirty="0"/>
          </a:p>
        </p:txBody>
      </p:sp>
      <p:sp>
        <p:nvSpPr>
          <p:cNvPr id="10" name="Source note"/>
          <p:cNvSpPr txBox="1"/>
          <p:nvPr/>
        </p:nvSpPr>
        <p:spPr>
          <a:xfrm>
            <a:off x="548640" y="6355080"/>
            <a:ext cx="10515600" cy="320040"/>
          </a:xfrm>
          <a:prstGeom prst="rect">
            <a:avLst/>
          </a:prstGeom>
          <a:noFill/>
          <a:ln/>
        </p:spPr>
        <p:txBody>
          <a:bodyPr wrap="square" lIns="0" tIns="0" rIns="0" bIns="0" rtlCol="0" anchor="ctr"/>
          <a:lstStyle/>
          <a:p>
            <a:pPr indent="0" marL="0">
              <a:buNone/>
            </a:pPr>
            <a:r>
              <a:rPr lang="en-US" sz="1000" i="1" dirty="0">
                <a:solidFill>
                  <a:srgbClr val="55636A"/>
                </a:solidFill>
              </a:rPr>
              <a:t>collect_github_workloads.py SOURCES; reports/EXPERIMENT_REPORT.md; data/models/cycle_predictor_report.json (8 designs, 704 rows, 28 programs).</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36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Results: measured in the simulator</a:t>
            </a:r>
            <a:endParaRPr lang="en-US" sz="3200" dirty="0"/>
          </a:p>
        </p:txBody>
      </p:sp>
      <p:graphicFrame>
        <p:nvGraphicFramePr>
          <p:cNvPr id="3" name="Cycles chart" descr=""/>
          <p:cNvGraphicFramePr/>
          <p:nvPr/>
        </p:nvGraphicFramePr>
        <p:xfrm>
          <a:off x="548640" y="1234440"/>
          <a:ext cx="603504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Results table"/>
          <p:cNvGraphicFramePr>
            <a:graphicFrameLocks noGrp="1"/>
          </p:cNvGraphicFramePr>
          <p:nvPr>
            <p:extLst>
              <p:ext uri="{D42A27DB-BD31-4B8C-83A1-F6EECF244321}">
                <p14:modId xmlns:p14="http://schemas.microsoft.com/office/powerpoint/2010/main" val="1579011935"/>
              </p:ext>
            </p:extLst>
          </p:nvPr>
        </p:nvGraphicFramePr>
        <p:xfrm>
          <a:off x="6858000" y="1234440"/>
          <a:ext cx="4754880" cy="914400"/>
        </p:xfrm>
        <a:graphic>
          <a:graphicData uri="http://schemas.openxmlformats.org/drawingml/2006/table">
            <a:tbl>
              <a:tblPr/>
              <a:tblGrid>
                <a:gridCol w="2926080"/>
                <a:gridCol w="1828800"/>
              </a:tblGrid>
              <a:tr h="384048">
                <a:tc>
                  <a:txBody>
                    <a:bodyPr/>
                    <a:lstStyle/>
                    <a:p>
                      <a:pPr indent="0" marL="0">
                        <a:buNone/>
                      </a:pPr>
                      <a:r>
                        <a:rPr lang="en-US" sz="1300" b="1" dirty="0">
                          <a:solidFill>
                            <a:srgbClr val="FFFFFF"/>
                          </a:solidFill>
                        </a:rPr>
                        <a:t>Verified fact</a:t>
                      </a:r>
                      <a:endParaRPr lang="en-US" sz="13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F4C5C"/>
                    </a:solidFill>
                  </a:tcPr>
                </a:tc>
                <a:tc>
                  <a:txBody>
                    <a:bodyPr/>
                    <a:lstStyle/>
                    <a:p>
                      <a:pPr indent="0" marL="0">
                        <a:buNone/>
                      </a:pPr>
                      <a:r>
                        <a:rPr lang="en-US" sz="1300" b="1" dirty="0">
                          <a:solidFill>
                            <a:srgbClr val="FFFFFF"/>
                          </a:solidFill>
                        </a:rPr>
                        <a:t>Value</a:t>
                      </a:r>
                      <a:endParaRPr lang="en-US" sz="13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F4C5C"/>
                    </a:solidFill>
                  </a:tcPr>
                </a:tc>
              </a:tr>
              <a:tr h="384048">
                <a:tc>
                  <a:txBody>
                    <a:bodyPr/>
                    <a:lstStyle/>
                    <a:p>
                      <a:pPr indent="0" marL="0">
                        <a:buNone/>
                      </a:pPr>
                      <a:r>
                        <a:rPr lang="en-US" sz="1200" dirty="0">
                          <a:solidFill>
                            <a:srgbClr val="1E2A30"/>
                          </a:solidFill>
                        </a:rPr>
                        <a:t>CPU designs (HackTwin / imported)</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c>
                  <a:txBody>
                    <a:bodyPr/>
                    <a:lstStyle/>
                    <a:p>
                      <a:pPr indent="0" marL="0">
                        <a:buNone/>
                      </a:pPr>
                      <a:r>
                        <a:rPr lang="en-US" sz="1200" dirty="0">
                          <a:solidFill>
                            <a:srgbClr val="1E2A30"/>
                          </a:solidFill>
                        </a:rPr>
                        <a:t>8 / 215</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r>
              <a:tr h="384048">
                <a:tc>
                  <a:txBody>
                    <a:bodyPr/>
                    <a:lstStyle/>
                    <a:p>
                      <a:pPr indent="0" marL="0">
                        <a:buNone/>
                      </a:pPr>
                      <a:r>
                        <a:rPr lang="en-US" sz="1200" dirty="0">
                          <a:solidFill>
                            <a:srgbClr val="1E2A30"/>
                          </a:solidFill>
                        </a:rPr>
                        <a:t>Benchmark programs (core / GitHub)</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c>
                  <a:txBody>
                    <a:bodyPr/>
                    <a:lstStyle/>
                    <a:p>
                      <a:pPr indent="0" marL="0">
                        <a:buNone/>
                      </a:pPr>
                      <a:r>
                        <a:rPr lang="en-US" sz="1200" dirty="0">
                          <a:solidFill>
                            <a:srgbClr val="1E2A30"/>
                          </a:solidFill>
                        </a:rPr>
                        <a:t>10 (31 input cases) / 19</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r>
              <a:tr h="384048">
                <a:tc>
                  <a:txBody>
                    <a:bodyPr/>
                    <a:lstStyle/>
                    <a:p>
                      <a:pPr indent="0" marL="0">
                        <a:buNone/>
                      </a:pPr>
                      <a:r>
                        <a:rPr lang="en-US" sz="1200" dirty="0">
                          <a:solidFill>
                            <a:srgbClr val="1E2A30"/>
                          </a:solidFill>
                        </a:rPr>
                        <a:t>Run-to-halt simulation runs stored</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c>
                  <a:txBody>
                    <a:bodyPr/>
                    <a:lstStyle/>
                    <a:p>
                      <a:pPr indent="0" marL="0">
                        <a:buNone/>
                      </a:pPr>
                      <a:r>
                        <a:rPr lang="en-US" sz="1200" dirty="0">
                          <a:solidFill>
                            <a:srgbClr val="1E2A30"/>
                          </a:solidFill>
                        </a:rPr>
                        <a:t>14,682</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r>
              <a:tr h="384048">
                <a:tc>
                  <a:txBody>
                    <a:bodyPr/>
                    <a:lstStyle/>
                    <a:p>
                      <a:pPr indent="0" marL="0">
                        <a:buNone/>
                      </a:pPr>
                      <a:r>
                        <a:rPr lang="en-US" sz="1200" dirty="0">
                          <a:solidFill>
                            <a:srgbClr val="1E2A30"/>
                          </a:solidFill>
                        </a:rPr>
                        <a:t>Correct answers, all 8 designs</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c>
                  <a:txBody>
                    <a:bodyPr/>
                    <a:lstStyle/>
                    <a:p>
                      <a:pPr indent="0" marL="0">
                        <a:buNone/>
                      </a:pPr>
                      <a:r>
                        <a:rPr lang="en-US" sz="1200" dirty="0">
                          <a:solidFill>
                            <a:srgbClr val="1E2A30"/>
                          </a:solidFill>
                        </a:rPr>
                        <a:t>31 of 31 cases</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r>
              <a:tr h="384048">
                <a:tc>
                  <a:txBody>
                    <a:bodyPr/>
                    <a:lstStyle/>
                    <a:p>
                      <a:pPr indent="0" marL="0">
                        <a:buNone/>
                      </a:pPr>
                      <a:r>
                        <a:rPr lang="en-US" sz="1200" dirty="0">
                          <a:solidFill>
                            <a:srgbClr val="1E2A30"/>
                          </a:solidFill>
                        </a:rPr>
                        <a:t>jumpfold-8 vs baseline</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c>
                  <a:txBody>
                    <a:bodyPr/>
                    <a:lstStyle/>
                    <a:p>
                      <a:pPr indent="0" marL="0">
                        <a:buNone/>
                      </a:pPr>
                      <a:r>
                        <a:rPr lang="en-US" sz="1200" dirty="0">
                          <a:solidFill>
                            <a:srgbClr val="1E2A30"/>
                          </a:solidFill>
                        </a:rPr>
                        <a:t>1.032× speedup</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r>
              <a:tr h="384048">
                <a:tc>
                  <a:txBody>
                    <a:bodyPr/>
                    <a:lstStyle/>
                    <a:p>
                      <a:pPr indent="0" marL="0">
                        <a:buNone/>
                      </a:pPr>
                      <a:r>
                        <a:rPr lang="en-US" sz="1200" dirty="0">
                          <a:solidFill>
                            <a:srgbClr val="1E2A30"/>
                          </a:solidFill>
                        </a:rPr>
                        <a:t>multicycle-2phase</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c>
                  <a:txBody>
                    <a:bodyPr/>
                    <a:lstStyle/>
                    <a:p>
                      <a:pPr indent="0" marL="0">
                        <a:buNone/>
                      </a:pPr>
                      <a:r>
                        <a:rPr lang="en-US" sz="1200" dirty="0">
                          <a:solidFill>
                            <a:srgbClr val="1E2A30"/>
                          </a:solidFill>
                        </a:rPr>
                        <a:t>exactly 2× cycles</a:t>
                      </a:r>
                      <a:endParaRPr lang="en-US" sz="1200" dirty="0"/>
                    </a:p>
                  </a:txBody>
                  <a:tcPr marL="91440" marR="91440" marT="45720" marB="45720">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tcPr>
                </a:tc>
              </a:tr>
            </a:tbl>
          </a:graphicData>
        </a:graphic>
      </p:graphicFrame>
      <p:sp>
        <p:nvSpPr>
          <p:cNvPr id="5" name="Text 1"/>
          <p:cNvSpPr txBox="1"/>
          <p:nvPr/>
        </p:nvSpPr>
        <p:spPr>
          <a:xfrm>
            <a:off x="6858000" y="4069080"/>
            <a:ext cx="4754880" cy="2103120"/>
          </a:xfrm>
          <a:prstGeom prst="rect">
            <a:avLst/>
          </a:prstGeom>
          <a:noFill/>
          <a:ln/>
        </p:spPr>
        <p:txBody>
          <a:bodyPr wrap="square" lIns="1016" tIns="1016" rIns="1016" bIns="1016" rtlCol="0" anchor="t"/>
          <a:lstStyle/>
          <a:p>
            <a:pPr indent="0" marL="0">
              <a:buNone/>
            </a:pPr>
            <a:r>
              <a:rPr lang="en-US" sz="1300" b="1" dirty="0">
                <a:solidFill>
                  <a:srgbClr val="2F6E3B"/>
                </a:solidFill>
              </a:rPr>
              <a:t>Shows: </a:t>
            </a:r>
            <a:pPr indent="0" marL="0">
              <a:buNone/>
            </a:pPr>
            <a:r>
              <a:rPr lang="en-US" sz="1300" dirty="0">
                <a:solidFill>
                  <a:srgbClr val="1E2A30"/>
                </a:solidFill>
              </a:rPr>
              <a:t>the pipeline detects real cycle differences; jump folding saves cycles on loops; rewiring logic alone did not change any count. </a:t>
            </a:r>
            <a:pPr indent="0" marL="0">
              <a:buNone/>
            </a:pPr>
            <a:r>
              <a:rPr lang="en-US" sz="1300" b="1" dirty="0">
                <a:solidFill>
                  <a:srgbClr val="B5543C"/>
                </a:solidFill>
              </a:rPr>
              <a:t>Does not show: </a:t>
            </a:r>
            <a:pPr indent="0" marL="0">
              <a:buNone/>
            </a:pPr>
            <a:r>
              <a:rPr lang="en-US" sz="1300" dirty="0">
                <a:solidFill>
                  <a:srgbClr val="1E2A30"/>
                </a:solidFill>
              </a:rPr>
              <a:t>faster real chips. Clock speed, area and power were not measured.</a:t>
            </a:r>
            <a:endParaRPr lang="en-US" sz="1300" dirty="0"/>
          </a:p>
        </p:txBody>
      </p:sp>
      <p:sp>
        <p:nvSpPr>
          <p:cNvPr id="6" name="Source note"/>
          <p:cNvSpPr txBox="1"/>
          <p:nvPr/>
        </p:nvSpPr>
        <p:spPr>
          <a:xfrm>
            <a:off x="548640" y="6355080"/>
            <a:ext cx="10515600" cy="320040"/>
          </a:xfrm>
          <a:prstGeom prst="rect">
            <a:avLst/>
          </a:prstGeom>
          <a:noFill/>
          <a:ln/>
        </p:spPr>
        <p:txBody>
          <a:bodyPr wrap="square" lIns="0" tIns="0" rIns="0" bIns="0" rtlCol="0" anchor="ctr"/>
          <a:lstStyle/>
          <a:p>
            <a:pPr indent="0" marL="0">
              <a:buNone/>
            </a:pPr>
            <a:r>
              <a:rPr lang="en-US" sz="1000" i="1" dirty="0">
                <a:solidFill>
                  <a:srgbClr val="55636A"/>
                </a:solidFill>
              </a:rPr>
              <a:t>reports/EXPERIMENT_REPORT.md (generated 2026-10-21 from data/hacktwin.db); 2, 3 and branch-table also total 9,766 cycles.</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36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Status, limitations and next steps</a:t>
            </a:r>
            <a:endParaRPr lang="en-US" sz="3200" dirty="0"/>
          </a:p>
        </p:txBody>
      </p:sp>
      <p:sp>
        <p:nvSpPr>
          <p:cNvPr id="3" name="Card"/>
          <p:cNvSpPr/>
          <p:nvPr/>
        </p:nvSpPr>
        <p:spPr>
          <a:xfrm>
            <a:off x="548640" y="1280160"/>
            <a:ext cx="3520440" cy="3520440"/>
          </a:xfrm>
          <a:prstGeom prst="roundRect">
            <a:avLst>
              <a:gd name="adj" fmla="val 2078"/>
            </a:avLst>
          </a:prstGeom>
          <a:solidFill>
            <a:srgbClr val="EEF3F4"/>
          </a:solidFill>
          <a:ln w="12700">
            <a:solidFill>
              <a:srgbClr val="EEF3F4"/>
            </a:solidFill>
            <a:prstDash val="solid"/>
          </a:ln>
        </p:spPr>
      </p:sp>
      <p:sp>
        <p:nvSpPr>
          <p:cNvPr id="4" name="Text 2"/>
          <p:cNvSpPr txBox="1"/>
          <p:nvPr/>
        </p:nvSpPr>
        <p:spPr>
          <a:xfrm>
            <a:off x="731520" y="1371600"/>
            <a:ext cx="3200400" cy="411480"/>
          </a:xfrm>
          <a:prstGeom prst="rect">
            <a:avLst/>
          </a:prstGeom>
          <a:noFill/>
          <a:ln/>
        </p:spPr>
        <p:txBody>
          <a:bodyPr wrap="square" lIns="1016" tIns="1016" rIns="1016" bIns="1016" rtlCol="0" anchor="t"/>
          <a:lstStyle/>
          <a:p>
            <a:pPr indent="0" marL="0">
              <a:buNone/>
            </a:pPr>
            <a:r>
              <a:rPr lang="en-US" sz="1700" b="1" dirty="0">
                <a:solidFill>
                  <a:srgbClr val="2F6E3B"/>
                </a:solidFill>
              </a:rPr>
              <a:t>Implemented and tested</a:t>
            </a:r>
            <a:endParaRPr lang="en-US" sz="1700" dirty="0"/>
          </a:p>
        </p:txBody>
      </p:sp>
      <p:sp>
        <p:nvSpPr>
          <p:cNvPr id="5" name="Text 3"/>
          <p:cNvSpPr txBox="1"/>
          <p:nvPr/>
        </p:nvSpPr>
        <p:spPr>
          <a:xfrm>
            <a:off x="731520" y="1828800"/>
            <a:ext cx="3200400" cy="2926080"/>
          </a:xfrm>
          <a:prstGeom prst="rect">
            <a:avLst/>
          </a:prstGeom>
          <a:noFill/>
          <a:ln/>
        </p:spPr>
        <p:txBody>
          <a:bodyPr wrap="square" lIns="1016" tIns="1016" rIns="1016" bIns="1016" rtlCol="0" anchor="t"/>
          <a:lstStyle/>
          <a:p>
            <a:pPr marL="342900" indent="-342900">
              <a:spcAft>
                <a:spcPts val="600"/>
              </a:spcAft>
              <a:buSzPct val="100000"/>
              <a:buChar char="•"/>
            </a:pPr>
            <a:r>
              <a:rPr lang="en-US" sz="1400" dirty="0">
                <a:solidFill>
                  <a:srgbClr val="1E2A30"/>
                </a:solidFill>
              </a:rPr>
              <a:t>Simulation, trace checking and storage</a:t>
            </a:r>
            <a:endParaRPr lang="en-US" sz="1500" dirty="0"/>
          </a:p>
          <a:p>
            <a:pPr marL="342900" indent="-342900">
              <a:spcAft>
                <a:spcPts val="600"/>
              </a:spcAft>
              <a:buSzPct val="100000"/>
              <a:buChar char="•"/>
            </a:pPr>
            <a:r>
              <a:rPr lang="en-US" sz="1400" dirty="0">
                <a:solidFill>
                  <a:srgbClr val="1E2A30"/>
                </a:solidFill>
              </a:rPr>
              <a:t>Bottleneck analysis, comparison, ranking, recommendations</a:t>
            </a:r>
            <a:endParaRPr lang="en-US" sz="1500" dirty="0"/>
          </a:p>
          <a:p>
            <a:pPr marL="342900" indent="-342900">
              <a:spcAft>
                <a:spcPts val="600"/>
              </a:spcAft>
              <a:buSzPct val="100000"/>
              <a:buChar char="•"/>
            </a:pPr>
            <a:r>
              <a:rPr lang="en-US" sz="1400" dirty="0">
                <a:solidFill>
                  <a:srgbClr val="1E2A30"/>
                </a:solidFill>
              </a:rPr>
              <a:t>Web dashboard with workbench and trace explorer</a:t>
            </a:r>
            <a:endParaRPr lang="en-US" sz="1500" dirty="0"/>
          </a:p>
          <a:p>
            <a:pPr marL="342900" indent="-342900">
              <a:spcAft>
                <a:spcPts val="600"/>
              </a:spcAft>
              <a:buSzPct val="100000"/>
              <a:buChar char="•"/>
            </a:pPr>
            <a:r>
              <a:rPr lang="en-US" sz="1400" dirty="0">
                <a:solidFill>
                  <a:srgbClr val="1E2A30"/>
                </a:solidFill>
              </a:rPr>
              <a:t>136 unit tests + 7 simulator integration tests passing</a:t>
            </a:r>
            <a:endParaRPr lang="en-US" sz="1500" dirty="0"/>
          </a:p>
        </p:txBody>
      </p:sp>
      <p:sp>
        <p:nvSpPr>
          <p:cNvPr id="6" name="Card"/>
          <p:cNvSpPr/>
          <p:nvPr/>
        </p:nvSpPr>
        <p:spPr>
          <a:xfrm>
            <a:off x="4297680" y="1280160"/>
            <a:ext cx="3520440" cy="3520440"/>
          </a:xfrm>
          <a:prstGeom prst="roundRect">
            <a:avLst>
              <a:gd name="adj" fmla="val 2078"/>
            </a:avLst>
          </a:prstGeom>
          <a:solidFill>
            <a:srgbClr val="EEF3F4"/>
          </a:solidFill>
          <a:ln w="12700">
            <a:solidFill>
              <a:srgbClr val="EEF3F4"/>
            </a:solidFill>
            <a:prstDash val="solid"/>
          </a:ln>
        </p:spPr>
      </p:sp>
      <p:sp>
        <p:nvSpPr>
          <p:cNvPr id="7" name="Text 5"/>
          <p:cNvSpPr txBox="1"/>
          <p:nvPr/>
        </p:nvSpPr>
        <p:spPr>
          <a:xfrm>
            <a:off x="4480560" y="1371600"/>
            <a:ext cx="3200400" cy="411480"/>
          </a:xfrm>
          <a:prstGeom prst="rect">
            <a:avLst/>
          </a:prstGeom>
          <a:noFill/>
          <a:ln/>
        </p:spPr>
        <p:txBody>
          <a:bodyPr wrap="square" lIns="1016" tIns="1016" rIns="1016" bIns="1016" rtlCol="0" anchor="t"/>
          <a:lstStyle/>
          <a:p>
            <a:pPr indent="0" marL="0">
              <a:buNone/>
            </a:pPr>
            <a:r>
              <a:rPr lang="en-US" sz="1700" b="1" dirty="0">
                <a:solidFill>
                  <a:srgbClr val="C9822B"/>
                </a:solidFill>
              </a:rPr>
              <a:t>Experimental or limited</a:t>
            </a:r>
            <a:endParaRPr lang="en-US" sz="1700" dirty="0"/>
          </a:p>
        </p:txBody>
      </p:sp>
      <p:sp>
        <p:nvSpPr>
          <p:cNvPr id="8" name="Text 6"/>
          <p:cNvSpPr txBox="1"/>
          <p:nvPr/>
        </p:nvSpPr>
        <p:spPr>
          <a:xfrm>
            <a:off x="4480560" y="1828800"/>
            <a:ext cx="3200400" cy="2926080"/>
          </a:xfrm>
          <a:prstGeom prst="rect">
            <a:avLst/>
          </a:prstGeom>
          <a:noFill/>
          <a:ln/>
        </p:spPr>
        <p:txBody>
          <a:bodyPr wrap="square" lIns="1016" tIns="1016" rIns="1016" bIns="1016" rtlCol="0" anchor="t"/>
          <a:lstStyle/>
          <a:p>
            <a:pPr marL="342900" indent="-342900">
              <a:spcAft>
                <a:spcPts val="600"/>
              </a:spcAft>
              <a:buSzPct val="100000"/>
              <a:buChar char="•"/>
            </a:pPr>
            <a:r>
              <a:rPr lang="en-US" sz="1400" dirty="0">
                <a:solidFill>
                  <a:srgbClr val="1E2A30"/>
                </a:solidFill>
              </a:rPr>
              <a:t>Predictor: accurate only after calibrating each design</a:t>
            </a:r>
            <a:endParaRPr lang="en-US" sz="1500" dirty="0"/>
          </a:p>
          <a:p>
            <a:pPr marL="342900" indent="-342900">
              <a:spcAft>
                <a:spcPts val="600"/>
              </a:spcAft>
              <a:buSzPct val="100000"/>
              <a:buChar char="•"/>
            </a:pPr>
            <a:r>
              <a:rPr lang="en-US" sz="1400" dirty="0">
                <a:solidFill>
                  <a:srgbClr val="1E2A30"/>
                </a:solidFill>
              </a:rPr>
              <a:t>GitHub ingestion covered 339 of 1,346 repositories</a:t>
            </a:r>
            <a:endParaRPr lang="en-US" sz="1500" dirty="0"/>
          </a:p>
          <a:p>
            <a:pPr marL="342900" indent="-342900">
              <a:spcAft>
                <a:spcPts val="600"/>
              </a:spcAft>
              <a:buSzPct val="100000"/>
              <a:buChar char="•"/>
            </a:pPr>
            <a:r>
              <a:rPr lang="en-US" sz="1400" dirty="0">
                <a:solidFill>
                  <a:srgbClr val="1E2A30"/>
                </a:solidFill>
              </a:rPr>
              <a:t>At most 11 memory cells observed directly per run</a:t>
            </a:r>
            <a:endParaRPr lang="en-US" sz="1500" dirty="0"/>
          </a:p>
          <a:p>
            <a:pPr marL="342900" indent="-342900">
              <a:spcAft>
                <a:spcPts val="600"/>
              </a:spcAft>
              <a:buSzPct val="100000"/>
              <a:buChar char="•"/>
            </a:pPr>
            <a:r>
              <a:rPr lang="en-US" sz="1400" dirty="0">
                <a:solidFill>
                  <a:srgbClr val="1E2A30"/>
                </a:solidFill>
              </a:rPr>
              <a:t>Memory.tst not run (needs a keyboard)</a:t>
            </a:r>
            <a:endParaRPr lang="en-US" sz="1500" dirty="0"/>
          </a:p>
        </p:txBody>
      </p:sp>
      <p:sp>
        <p:nvSpPr>
          <p:cNvPr id="9" name="Card"/>
          <p:cNvSpPr/>
          <p:nvPr/>
        </p:nvSpPr>
        <p:spPr>
          <a:xfrm>
            <a:off x="8046720" y="1280160"/>
            <a:ext cx="3520440" cy="3520440"/>
          </a:xfrm>
          <a:prstGeom prst="roundRect">
            <a:avLst>
              <a:gd name="adj" fmla="val 2078"/>
            </a:avLst>
          </a:prstGeom>
          <a:solidFill>
            <a:srgbClr val="EEF3F4"/>
          </a:solidFill>
          <a:ln w="12700">
            <a:solidFill>
              <a:srgbClr val="EEF3F4"/>
            </a:solidFill>
            <a:prstDash val="solid"/>
          </a:ln>
        </p:spPr>
      </p:sp>
      <p:sp>
        <p:nvSpPr>
          <p:cNvPr id="10" name="Text 8"/>
          <p:cNvSpPr txBox="1"/>
          <p:nvPr/>
        </p:nvSpPr>
        <p:spPr>
          <a:xfrm>
            <a:off x="8229600" y="1371600"/>
            <a:ext cx="3200400" cy="411480"/>
          </a:xfrm>
          <a:prstGeom prst="rect">
            <a:avLst/>
          </a:prstGeom>
          <a:noFill/>
          <a:ln/>
        </p:spPr>
        <p:txBody>
          <a:bodyPr wrap="square" lIns="1016" tIns="1016" rIns="1016" bIns="1016" rtlCol="0" anchor="t"/>
          <a:lstStyle/>
          <a:p>
            <a:pPr indent="0" marL="0">
              <a:buNone/>
            </a:pPr>
            <a:r>
              <a:rPr lang="en-US" sz="1700" b="1" dirty="0">
                <a:solidFill>
                  <a:srgbClr val="0F4C5C"/>
                </a:solidFill>
              </a:rPr>
              <a:t>Next steps (planned)</a:t>
            </a:r>
            <a:endParaRPr lang="en-US" sz="1700" dirty="0"/>
          </a:p>
        </p:txBody>
      </p:sp>
      <p:sp>
        <p:nvSpPr>
          <p:cNvPr id="11" name="Text 9"/>
          <p:cNvSpPr txBox="1"/>
          <p:nvPr/>
        </p:nvSpPr>
        <p:spPr>
          <a:xfrm>
            <a:off x="8229600" y="1828800"/>
            <a:ext cx="3200400" cy="2926080"/>
          </a:xfrm>
          <a:prstGeom prst="rect">
            <a:avLst/>
          </a:prstGeom>
          <a:noFill/>
          <a:ln/>
        </p:spPr>
        <p:txBody>
          <a:bodyPr wrap="square" lIns="1016" tIns="1016" rIns="1016" bIns="1016" rtlCol="0" anchor="t"/>
          <a:lstStyle/>
          <a:p>
            <a:pPr marL="342900" indent="-342900">
              <a:spcAft>
                <a:spcPts val="600"/>
              </a:spcAft>
              <a:buSzPct val="100000"/>
              <a:buChar char="•"/>
            </a:pPr>
            <a:r>
              <a:rPr lang="en-US" sz="1400" dirty="0">
                <a:solidFill>
                  <a:srgbClr val="1E2A30"/>
                </a:solidFill>
              </a:rPr>
              <a:t>Process the remaining 1,005 repositories</a:t>
            </a:r>
            <a:endParaRPr lang="en-US" sz="1500" dirty="0"/>
          </a:p>
          <a:p>
            <a:pPr marL="342900" indent="-342900">
              <a:spcAft>
                <a:spcPts val="600"/>
              </a:spcAft>
              <a:buSzPct val="100000"/>
              <a:buChar char="•"/>
            </a:pPr>
            <a:r>
              <a:rPr lang="en-US" sz="1400" dirty="0">
                <a:solidFill>
                  <a:srgbClr val="1E2A30"/>
                </a:solidFill>
              </a:rPr>
              <a:t>A genuinely pipelined Hack CPU</a:t>
            </a:r>
            <a:endParaRPr lang="en-US" sz="1500" dirty="0"/>
          </a:p>
          <a:p>
            <a:pPr marL="342900" indent="-342900">
              <a:spcAft>
                <a:spcPts val="600"/>
              </a:spcAft>
              <a:buSzPct val="100000"/>
              <a:buChar char="•"/>
            </a:pPr>
            <a:r>
              <a:rPr lang="en-US" sz="1400" dirty="0">
                <a:solidFill>
                  <a:srgbClr val="1E2A30"/>
                </a:solidFill>
              </a:rPr>
              <a:t>Timing/area estimates with a synthesis tool</a:t>
            </a:r>
            <a:endParaRPr lang="en-US" sz="1500" dirty="0"/>
          </a:p>
          <a:p>
            <a:pPr marL="342900" indent="-342900">
              <a:spcAft>
                <a:spcPts val="600"/>
              </a:spcAft>
              <a:buSzPct val="100000"/>
              <a:buChar char="•"/>
            </a:pPr>
            <a:r>
              <a:rPr lang="en-US" sz="1400" dirty="0">
                <a:solidFill>
                  <a:srgbClr val="1E2A30"/>
                </a:solidFill>
              </a:rPr>
              <a:t>More varied benchmark programs</a:t>
            </a:r>
            <a:endParaRPr lang="en-US" sz="1500" dirty="0"/>
          </a:p>
        </p:txBody>
      </p:sp>
      <p:sp>
        <p:nvSpPr>
          <p:cNvPr id="12" name="Card"/>
          <p:cNvSpPr/>
          <p:nvPr/>
        </p:nvSpPr>
        <p:spPr>
          <a:xfrm>
            <a:off x="548640" y="4983480"/>
            <a:ext cx="11064240" cy="1188720"/>
          </a:xfrm>
          <a:prstGeom prst="roundRect">
            <a:avLst>
              <a:gd name="adj" fmla="val 6154"/>
            </a:avLst>
          </a:prstGeom>
          <a:solidFill>
            <a:srgbClr val="0F4C5C"/>
          </a:solidFill>
          <a:ln w="12700">
            <a:solidFill>
              <a:srgbClr val="0F4C5C"/>
            </a:solidFill>
            <a:prstDash val="solid"/>
          </a:ln>
        </p:spPr>
      </p:sp>
      <p:sp>
        <p:nvSpPr>
          <p:cNvPr id="13" name="Text 11"/>
          <p:cNvSpPr txBox="1"/>
          <p:nvPr/>
        </p:nvSpPr>
        <p:spPr>
          <a:xfrm>
            <a:off x="777240" y="5074920"/>
            <a:ext cx="10607040" cy="1005840"/>
          </a:xfrm>
          <a:prstGeom prst="rect">
            <a:avLst/>
          </a:prstGeom>
          <a:noFill/>
          <a:ln/>
        </p:spPr>
        <p:txBody>
          <a:bodyPr wrap="square" lIns="1016" tIns="1016" rIns="1016" bIns="1016" rtlCol="0" anchor="ctr"/>
          <a:lstStyle/>
          <a:p>
            <a:pPr indent="0" marL="0">
              <a:buNone/>
            </a:pPr>
            <a:r>
              <a:rPr lang="en-US" sz="1500" dirty="0">
                <a:solidFill>
                  <a:srgbClr val="FFFFFF"/>
                </a:solidFill>
              </a:rPr>
              <a:t>Conclusion: HackTwin turns raw nand2tetris simulator output into a checked, stored and comparable record of each Hack CPU design, so we can say with evidence which designs are correct and which use fewer simulated cycles, without claiming anything about real hardware.</a:t>
            </a:r>
            <a:endParaRPr lang="en-US" sz="1500" dirty="0"/>
          </a:p>
        </p:txBody>
      </p:sp>
      <p:sp>
        <p:nvSpPr>
          <p:cNvPr id="14" name="Source note"/>
          <p:cNvSpPr txBox="1"/>
          <p:nvPr/>
        </p:nvSpPr>
        <p:spPr>
          <a:xfrm>
            <a:off x="548640" y="6355080"/>
            <a:ext cx="10515600" cy="320040"/>
          </a:xfrm>
          <a:prstGeom prst="rect">
            <a:avLst/>
          </a:prstGeom>
          <a:noFill/>
          <a:ln/>
        </p:spPr>
        <p:txBody>
          <a:bodyPr wrap="square" lIns="0" tIns="0" rIns="0" bIns="0" rtlCol="0" anchor="ctr"/>
          <a:lstStyle/>
          <a:p>
            <a:pPr indent="0" marL="0">
              <a:buNone/>
            </a:pPr>
            <a:r>
              <a:rPr lang="en-US" sz="1000" i="1" dirty="0">
                <a:solidFill>
                  <a:srgbClr val="55636A"/>
                </a:solidFill>
              </a:rPr>
              <a:t>README.md 'Tests' and 'Known limitations'; test results from the final run on 2026-10-21.</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36A"/>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HackTwin Calm">
  <a:themeElements>
    <a:clrScheme name="HackTwin Calm">
      <a:dk1>
        <a:srgbClr val="1E2A30"/>
      </a:dk1>
      <a:lt1>
        <a:srgbClr val="FFFFFF"/>
      </a:lt1>
      <a:dk2>
        <a:srgbClr val="0F4C5C"/>
      </a:dk2>
      <a:lt2>
        <a:srgbClr val="EEF3F4"/>
      </a:lt2>
      <a:accent1>
        <a:srgbClr val="0F4C5C"/>
      </a:accent1>
      <a:accent2>
        <a:srgbClr val="C9822B"/>
      </a:accent2>
      <a:accent3>
        <a:srgbClr val="5B8C85"/>
      </a:accent3>
      <a:accent4>
        <a:srgbClr val="9AA5A9"/>
      </a:accent4>
      <a:accent5>
        <a:srgbClr val="B5543C"/>
      </a:accent5>
      <a:accent6>
        <a:srgbClr val="2F6E3B"/>
      </a:accent6>
      <a:hlink>
        <a:srgbClr val="0F4C5C"/>
      </a:hlink>
      <a:folHlink>
        <a:srgbClr val="5B8C85"/>
      </a:folHlink>
    </a:clrScheme>
    <a:fontScheme name="HackTwin Cal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HackTwin: a digital twin for Hack CPU HDL designs</dc:title>
  <dc:subject>PptxGenJS Presentation</dc:subject>
  <dc:creator>TEAM-14, 23AID113 Elements of Computing 2</dc:creator>
  <cp:lastModifiedBy>TEAM-14, 23AID113 Elements of Computing 2</cp:lastModifiedBy>
  <cp:revision>1</cp:revision>
  <dcterms:created xsi:type="dcterms:W3CDTF">2026-10-21T12:39:23Z</dcterms:created>
  <dcterms:modified xsi:type="dcterms:W3CDTF">2026-10-21T12:39:23Z</dcterms:modified>
</cp:coreProperties>
</file>