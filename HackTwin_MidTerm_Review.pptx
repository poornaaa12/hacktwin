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8145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F0395-9115-EFC8-3B2B-E90DD8298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7C0AA-78E2-1A3E-52B3-A4C5B965A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58D6B2-7BA4-4C05-7B60-17D128FBF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B71BF-9DE3-2A2E-859E-19D033C649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244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" name="Image 0" descr="/home/claude/work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188" y="273530"/>
            <a:ext cx="1939318" cy="19393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" y="2212848"/>
            <a:ext cx="1189908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23AID113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6304" y="2578608"/>
            <a:ext cx="1189908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of Computing 2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94944" y="2967392"/>
            <a:ext cx="1080180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HackTwin: A Digital Twin Framework for Hack CPU &amp; HDL Hardware Designs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94944" y="3538892"/>
            <a:ext cx="1080180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Telemetry Extraction, Persistence, Bottleneck Analysis, and Design Comparison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" y="4096512"/>
            <a:ext cx="118990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TEAM-14: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46304" y="4599432"/>
            <a:ext cx="29747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Boyilla Charan Teja Reddy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6304" y="4946904"/>
            <a:ext cx="29747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[CB.AI.U4AAR25011]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21076" y="4599432"/>
            <a:ext cx="29747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Poornashree P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121076" y="4946904"/>
            <a:ext cx="29747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[CB.AI.U4AAR25036]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95848" y="4599432"/>
            <a:ext cx="29747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Thulasiram Sudheeswar Reddy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95848" y="4946904"/>
            <a:ext cx="29747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[CB.AI.U4AAR25053]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070619" y="4599432"/>
            <a:ext cx="29747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Harshitha Tippireddy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070619" y="4946904"/>
            <a:ext cx="29747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[CB.AI.U4AAR25054]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3464" y="228600"/>
            <a:ext cx="1162476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74904" y="896112"/>
            <a:ext cx="11430000" cy="4245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600" b="1" u="sng" dirty="0"/>
              <a:t>The HDL Verification Challenge:</a:t>
            </a:r>
            <a:endParaRPr lang="en-IN" sz="1600" u="sng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Evaluating Computer Architecture (HDL) designs requires executing standard benchmark programs across successive design iterations.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Each iteration must be simulated and its performance captured before the next design change can be evaluated, and this becomes harder to manage as the number of design variants grows.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dirty="0"/>
              <a:t>.</a:t>
            </a:r>
          </a:p>
        </p:txBody>
      </p:sp>
      <p:sp>
        <p:nvSpPr>
          <p:cNvPr id="5" name="Text 3"/>
          <p:cNvSpPr/>
          <p:nvPr/>
        </p:nvSpPr>
        <p:spPr>
          <a:xfrm>
            <a:off x="4187150" y="1869547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Trace — Manual Inspection Pain Point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99515" y="2134322"/>
            <a:ext cx="3394189" cy="1619531"/>
          </a:xfrm>
          <a:prstGeom prst="rect">
            <a:avLst/>
          </a:prstGeom>
          <a:solidFill>
            <a:schemeClr val="bg1"/>
          </a:solidFill>
          <a:ln w="9525">
            <a:solidFill>
              <a:srgbClr val="9E9E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09243" y="2207474"/>
            <a:ext cx="3394189" cy="1546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reset AReg DReg PC[] RAM[0] RAM[1] RAM[2]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0     0     0    0    0     0      0      0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1     0     2    0    1     0      0      0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2     0     2    2    2     0      0      0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3     0     3    2    3     0      0      0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4     0     3    5    4     0      0      0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5     0     0    5    5     0      0      0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6     0     0    5    6     5      0      0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7     1     0    5    0     0      0      0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8     0     2    5    1     0      0      0</a:t>
            </a:r>
            <a:endParaRPr lang="en-US" sz="9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B94567-9C31-6040-43E4-3E07466D8FD9}"/>
              </a:ext>
            </a:extLst>
          </p:cNvPr>
          <p:cNvSpPr txBox="1"/>
          <p:nvPr/>
        </p:nvSpPr>
        <p:spPr>
          <a:xfrm>
            <a:off x="350440" y="3795081"/>
            <a:ext cx="1146665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/>
              <a:t>Workflow Challenges Addressed by </a:t>
            </a:r>
            <a:r>
              <a:rPr lang="en-IN" sz="1600" b="1" u="sng" dirty="0" err="1"/>
              <a:t>HackTwin</a:t>
            </a:r>
            <a:r>
              <a:rPr lang="en-IN" sz="1600" b="1" u="sng" dirty="0"/>
              <a:t>:</a:t>
            </a:r>
            <a:endParaRPr lang="en-IN" sz="1600" u="sng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Manual Trace Inspection: manually parsing cycle-by-cycle simulator </a:t>
            </a:r>
            <a:r>
              <a:rPr lang="en-IN" sz="1800" dirty="0"/>
              <a:t>.out</a:t>
            </a:r>
            <a:r>
              <a:rPr lang="en-IN" sz="1600" dirty="0"/>
              <a:t> files is slow, error-prone, and fundamentally unscalable.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Limited Persistence: telemetry from earlier design revisions is routinely discarded, leaving regression tracking without a historical baseline.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Lack of Automated Root-Cause Attribution: isolating performance penalties — register churn, PC loop spinning, RAM write contention — still relies on painstaking manual debugging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3464" y="228600"/>
            <a:ext cx="1162476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74904" y="5193792"/>
            <a:ext cx="1144188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F8B451-4F2D-258F-644F-8F31FDF9D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86" y="932796"/>
            <a:ext cx="11317705" cy="44386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3464" y="228600"/>
            <a:ext cx="1162476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&amp; CORE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74904" y="896112"/>
            <a:ext cx="10902696" cy="561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b="1" u="sng" dirty="0" err="1"/>
              <a:t>HackTwin</a:t>
            </a:r>
            <a:r>
              <a:rPr lang="en-IN" sz="1400" b="1" u="sng" dirty="0"/>
              <a:t> Solution:</a:t>
            </a:r>
          </a:p>
          <a:p>
            <a:r>
              <a:rPr lang="en-IN" sz="1400" dirty="0"/>
              <a:t>An integrated 8-phase Digital Twin platform for Hack Computer HDL designs, enabling automated simulation, telemetry collection, analysis, comparison, and future performance prediction.</a:t>
            </a:r>
          </a:p>
          <a:p>
            <a:endParaRPr lang="en-IN" sz="1400" b="1" dirty="0"/>
          </a:p>
          <a:p>
            <a:r>
              <a:rPr lang="en-IN" sz="1400" b="1" u="sng" dirty="0"/>
              <a:t>Core Objectives: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u="sng" dirty="0"/>
              <a:t>Headless Execution &amp; Extraction:</a:t>
            </a:r>
            <a:r>
              <a:rPr lang="en-IN" sz="1400" u="sng" dirty="0"/>
              <a:t>  </a:t>
            </a:r>
          </a:p>
          <a:p>
            <a:pPr lvl="0"/>
            <a:r>
              <a:rPr lang="en-IN" sz="1400" dirty="0"/>
              <a:t>       Batch-simulate HDL designs through the nand2tetris Hardware Simulator and capture cycle-level hardware signals.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u="sng" dirty="0"/>
              <a:t>Versioned Telemetry Store:</a:t>
            </a:r>
            <a:r>
              <a:rPr lang="en-IN" sz="1400" u="sng" dirty="0"/>
              <a:t> </a:t>
            </a:r>
          </a:p>
          <a:p>
            <a:pPr lvl="0"/>
            <a:r>
              <a:rPr lang="en-IN" sz="1400" dirty="0"/>
              <a:t>       Persist normalized simulation telemetry in an indexed SQLite database with design revision and lineage tracking.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u="sng" dirty="0"/>
              <a:t>Automated Bottleneck Analysis:</a:t>
            </a:r>
          </a:p>
          <a:p>
            <a:pPr lvl="0"/>
            <a:r>
              <a:rPr lang="en-IN" sz="1400" b="1" dirty="0"/>
              <a:t>       </a:t>
            </a:r>
            <a:r>
              <a:rPr lang="en-IN" sz="1400" dirty="0" err="1"/>
              <a:t>Analyze</a:t>
            </a:r>
            <a:r>
              <a:rPr lang="en-IN" sz="1400" dirty="0"/>
              <a:t> execution traces to identify instruction hotspots, PC loops, register churn, and memory-write bottlenecks.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u="sng" dirty="0"/>
              <a:t>Root-Cause Diagnostics:</a:t>
            </a:r>
          </a:p>
          <a:p>
            <a:pPr lvl="0"/>
            <a:r>
              <a:rPr lang="en-IN" sz="1400" b="1" dirty="0"/>
              <a:t>       </a:t>
            </a:r>
            <a:r>
              <a:rPr lang="en-IN" sz="1400" dirty="0"/>
              <a:t>Convert low-level execution telemetry into actionable diagnostic insights about potential performance bottlenecks.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u="sng" dirty="0"/>
              <a:t>Multi-Design Comparison:</a:t>
            </a:r>
          </a:p>
          <a:p>
            <a:pPr lvl="0"/>
            <a:r>
              <a:rPr lang="en-IN" sz="1400" b="1" dirty="0"/>
              <a:t>       </a:t>
            </a:r>
            <a:r>
              <a:rPr lang="en-IN" sz="1400" dirty="0"/>
              <a:t>Compare CPU design variants using cycle counts, telemetry differences, output agreement, and efficiency metrics</a:t>
            </a:r>
            <a:r>
              <a:rPr lang="en-IN" sz="1400" b="1" dirty="0"/>
              <a:t>.</a:t>
            </a:r>
            <a:r>
              <a:rPr lang="en-IN" sz="14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u="sng" dirty="0"/>
              <a:t>Design Ranking</a:t>
            </a:r>
            <a:r>
              <a:rPr lang="en-IN" sz="1400" u="sng" dirty="0"/>
              <a:t> :</a:t>
            </a:r>
          </a:p>
          <a:p>
            <a:pPr lvl="0"/>
            <a:r>
              <a:rPr lang="en-IN" sz="1400" dirty="0"/>
              <a:t>       Provide quantitative performance and efficiency rankings across different CPU implementations.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u="sng" dirty="0"/>
              <a:t>Predictive Performance Layer:</a:t>
            </a:r>
            <a:endParaRPr lang="en-IN" sz="1400" u="sng" dirty="0"/>
          </a:p>
          <a:p>
            <a:pPr lvl="0"/>
            <a:r>
              <a:rPr lang="en-IN" sz="1400" dirty="0"/>
              <a:t>       Develop an analytical/ML model to predict execution cycles and performance trends from historical twin telemetry.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u="sng" dirty="0"/>
              <a:t>Visualization &amp; Decision Support:</a:t>
            </a:r>
          </a:p>
          <a:p>
            <a:pPr lvl="0"/>
            <a:r>
              <a:rPr lang="en-IN" sz="1400" b="1" dirty="0"/>
              <a:t>       </a:t>
            </a:r>
            <a:r>
              <a:rPr lang="en-IN" sz="1400" dirty="0"/>
              <a:t>Provide an interactive dashboard for trace visualization, bottleneck analysis, and design comparison.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3464" y="228600"/>
            <a:ext cx="1162476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74904" y="850392"/>
            <a:ext cx="1144188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Phase 0 to Phase 8 end-to-end Digital Twin flow, from raw HDL designs to simulation batch runner, JSONL parser, SQLite twin store, analytics engines, predictor, and dashboard UI.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3DBF3E-823F-77D1-7A94-7C61666FD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3" y="1960124"/>
            <a:ext cx="11624767" cy="29968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3464" y="228600"/>
            <a:ext cx="1162476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IMPLEMENTATION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74904" y="896112"/>
            <a:ext cx="11624766" cy="5544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u="sng" dirty="0"/>
              <a:t>Define the Experimental Setup:</a:t>
            </a:r>
            <a:br>
              <a:rPr lang="en-IN" sz="1600" dirty="0"/>
            </a:br>
            <a:r>
              <a:rPr lang="en-IN" sz="1600" dirty="0"/>
              <a:t>Establish a standardized set of Hack CPU benchmark programs and define the execution parameters and telemetry required for evaluation.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u="sng" dirty="0"/>
              <a:t>Execute HDL Designs:</a:t>
            </a:r>
            <a:br>
              <a:rPr lang="en-IN" sz="1600" dirty="0"/>
            </a:br>
            <a:r>
              <a:rPr lang="en-IN" sz="1600" dirty="0"/>
              <a:t>Run each CPU design against the benchmark suite using the nand2tetris Hardware Simulator in an automated and repeatable environment.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u="sng" dirty="0"/>
              <a:t>Collect Execution Telemetry:</a:t>
            </a:r>
            <a:br>
              <a:rPr lang="en-IN" sz="1600" dirty="0"/>
            </a:br>
            <a:r>
              <a:rPr lang="en-IN" sz="1600" dirty="0"/>
              <a:t>Capture cycle-level execution information, including program counter, instructions, registers, memory accesses, and program outputs.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u="sng" dirty="0"/>
              <a:t>Construct the Digital Twin:</a:t>
            </a:r>
            <a:br>
              <a:rPr lang="en-IN" sz="1600" dirty="0"/>
            </a:br>
            <a:r>
              <a:rPr lang="en-IN" sz="1600" dirty="0"/>
              <a:t>Normalize the collected simulation data and maintain it as a persistent representation of each HDL design, including design identity and revision lineage.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u="sng" dirty="0" err="1"/>
              <a:t>Analyze</a:t>
            </a:r>
            <a:r>
              <a:rPr lang="en-IN" sz="1600" b="1" u="sng" dirty="0"/>
              <a:t> System Behaviour:</a:t>
            </a:r>
            <a:br>
              <a:rPr lang="en-IN" sz="1600" dirty="0"/>
            </a:br>
            <a:r>
              <a:rPr lang="en-IN" sz="1600" dirty="0"/>
              <a:t>Mine the stored execution traces to identify recurring execution patterns and potential cycle, register, and memory bottlenecks.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u="sng" dirty="0"/>
              <a:t>Compare Design Variants:</a:t>
            </a:r>
            <a:br>
              <a:rPr lang="en-IN" sz="1600" dirty="0"/>
            </a:br>
            <a:r>
              <a:rPr lang="en-IN" sz="1600" dirty="0"/>
              <a:t>Evaluate different HDL implementations using their observed execution behaviour and quantitative performance metrics to determine relative efficiency.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u="sng" dirty="0"/>
              <a:t>Derive Performance Insights:</a:t>
            </a:r>
            <a:br>
              <a:rPr lang="en-IN" sz="1600" dirty="0"/>
            </a:br>
            <a:r>
              <a:rPr lang="en-IN" sz="1600" dirty="0"/>
              <a:t>Use the accumulated Digital Twin data as the basis for performance prediction and design-improvement insights.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u="sng" dirty="0"/>
              <a:t>Visualize and Validate Results:</a:t>
            </a:r>
            <a:br>
              <a:rPr lang="en-IN" sz="1600" dirty="0"/>
            </a:br>
            <a:r>
              <a:rPr lang="en-IN" sz="1600" dirty="0"/>
              <a:t>Present the collected telemetry and analysis through a visualization layer and evaluate the framework using standardized benchmarks and distinct HDL design variants.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3464" y="228600"/>
            <a:ext cx="1162476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SIMULATOR INTEGRATION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74904" y="896112"/>
            <a:ext cx="11408022" cy="443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Batch Runner (run_simulator_batch.py): sandboxes HDL chips (CPU.hdl, ALU.hdl, Memory.hdl, Computer.hdl) and .tst/.hack benchmarks.</a:t>
            </a:r>
            <a:endParaRPr lang="en-US" sz="13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nand2tetris Hardware Simulator batch interface with --repeat 2 determinism checks.</a:t>
            </a:r>
            <a:endParaRPr lang="en-US" sz="13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Parsing &amp; Normalization (parse_simulator_output.py): deduplicates tick/tock half-cycles into settled clock states.</a:t>
            </a:r>
            <a:endParaRPr lang="en-US" sz="13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per-cycle Program Counter (PC[]), ARegister, DRegister, and RAM cell transitions (RAM16K[N]).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123ECA-1476-5BB1-DF23-3F1D5140A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15" y="2298378"/>
            <a:ext cx="10820400" cy="36635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3464" y="228600"/>
            <a:ext cx="1162476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DIGITAL TWIN TELEMETRY STORE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74903" y="941832"/>
            <a:ext cx="11215517" cy="482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Storage Engine (twin_store.py, load_to_store.py): embedded SQLite store (data/hacktwin.db) with zero external pip dependencies.</a:t>
            </a:r>
            <a:endParaRPr lang="en-US" sz="13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3-Table Schema: designs (ID, hdl_source_hash, parent_design_id), runs (metadata, cycle count, output, traces), channels (multi-output script details).</a:t>
            </a:r>
            <a:endParaRPr lang="en-US" sz="13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Tracking: enables ancestry traversal (parent_design_id chain) to track evolution across design revisions (v1 → v2 → v3).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CD1CDA-952C-001B-24FF-F0737DC43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04" y="2202369"/>
            <a:ext cx="10708105" cy="27005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3464" y="228600"/>
            <a:ext cx="1162476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BOTTLENECK &amp; ROOT-CAUSE ENGINE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74903" y="896112"/>
            <a:ext cx="11670487" cy="4887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 (bottleneck_analysis.py)</a:t>
            </a:r>
            <a:endParaRPr lang="en-US" sz="15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2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Execution Hotspots: identifies top executed instruction addresses and cycle share (%).</a:t>
            </a:r>
            <a:endParaRPr lang="en-US" sz="15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2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Detection: pinpoints backward jumps and self-loop execution cycles.</a:t>
            </a:r>
            <a:endParaRPr lang="en-US" sz="15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2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Churn Rate: measures A and D register update frequencies (% of execution cycles).</a:t>
            </a:r>
            <a:endParaRPr lang="en-US" sz="15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2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Write Hotspots: identifies high-density RAM write locations (e.g. RAM[0], RAM[2], Screen memory).</a:t>
            </a:r>
            <a:endParaRPr lang="en-US" sz="15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2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Diagnostics: evaluates trace health and flags actionable optimization recommendations.</a:t>
            </a:r>
            <a:endParaRPr lang="en-US" sz="1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791604-9AA9-F806-4954-DA8F19FE8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163" y="2468804"/>
            <a:ext cx="10427368" cy="40916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3464" y="228600"/>
            <a:ext cx="1162476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COMPARISON ENGINE &amp; RANKER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74904" y="896112"/>
            <a:ext cx="11624766" cy="535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Engine (comparison_engine.py)</a:t>
            </a:r>
            <a:endParaRPr lang="en-US" sz="15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2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&amp; Delta Analysis: calculates cycle differences, speedup percentages, and execution time variance between designs.</a:t>
            </a:r>
            <a:endParaRPr lang="en-US" sz="15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2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Agreement Verification: validates that design variants produce bit-exact program outputs.</a:t>
            </a:r>
            <a:endParaRPr lang="en-US" sz="15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2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Differentiation: detects HDL source differences using content hashes across design iterations.</a:t>
            </a:r>
            <a:endParaRPr lang="en-US" sz="15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2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Design Ranker: ranks CPU designs across benchmark suites based on cycle efficiency and register churn.</a:t>
            </a:r>
            <a:endParaRPr lang="en-US" sz="1500" dirty="0"/>
          </a:p>
          <a:p>
            <a:pPr marL="0" indent="0" algn="l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Note</a:t>
            </a:r>
            <a:endParaRPr lang="en-US" sz="15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2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validation executed using byte-for-byte identical design copies (designs/1 &amp; designs/2), confirming pipeline determinism; architectural speedup evaluation awaits a distinct HDL design variant.</a:t>
            </a:r>
            <a:endParaRPr lang="en-US" sz="1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96E57E-58B0-5930-CD45-4257C5CF62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715"/>
          <a:stretch>
            <a:fillRect/>
          </a:stretch>
        </p:blipFill>
        <p:spPr>
          <a:xfrm>
            <a:off x="1046594" y="3073952"/>
            <a:ext cx="10098505" cy="20274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3464" y="228600"/>
            <a:ext cx="1162476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&amp; LIVE TELEMETRY VERIFICATION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74904" y="850392"/>
            <a:ext cx="11441887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on HDL Simulation Runs: executed across 2 design copies × 3 nand2tetris benchmarks × 2 repeats = 12 full runs.</a:t>
            </a:r>
            <a:endParaRPr lang="en-US" sz="125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Output Verification: ComputerAdd = 5 (RAM[0]), ComputerMax = 23456 (RAM[2]), ComputerRect = null (Screen RAM).</a:t>
            </a:r>
            <a:endParaRPr lang="en-US" sz="125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Empirical Telemetry &amp; Unit Test Suite: 29 passing unit tests across test_twin_store, test_bottleneck_analysis, and test_comparison_engine (0.293s execution).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550072"/>
              </p:ext>
            </p:extLst>
          </p:nvPr>
        </p:nvGraphicFramePr>
        <p:xfrm>
          <a:off x="374906" y="1886231"/>
          <a:ext cx="11441885" cy="1234440"/>
        </p:xfrm>
        <a:graphic>
          <a:graphicData uri="http://schemas.openxmlformats.org/drawingml/2006/table">
            <a:tbl>
              <a:tblPr/>
              <a:tblGrid>
                <a:gridCol w="2288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8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8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83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83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1 Avg Cycles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2 Avg Cycles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ComputerAdd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(5)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(23456)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(Screen RAM)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84455CF-6809-4560-9411-71BC76BA5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29" y="4990770"/>
            <a:ext cx="10374173" cy="13432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B7734A-8F15-8B7E-2A75-DED698F264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295" t="59051"/>
          <a:stretch>
            <a:fillRect/>
          </a:stretch>
        </p:blipFill>
        <p:spPr>
          <a:xfrm>
            <a:off x="463291" y="3355522"/>
            <a:ext cx="10431225" cy="14003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3464" y="228600"/>
            <a:ext cx="1162476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 BE DONE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74903" y="896112"/>
            <a:ext cx="11456149" cy="491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Performance Predictor: build an analytical/ML model to project cycle counts for unseen benchmarks or scaled parameters based on twin store history.</a:t>
            </a:r>
            <a:endParaRPr lang="en-US" sz="13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Recommendation Generator: automated rule-based engine suggesting specific HDL optimizations based on bottleneck diagnostic findings.</a:t>
            </a:r>
            <a:endParaRPr lang="en-US" sz="13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— Dashboard &amp; Visualization UI: web/CLI visualizer for interactive cycle traces, bottleneck charts, and design comparison tables.</a:t>
            </a:r>
            <a:endParaRPr lang="en-US" sz="13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 — Evaluation Case Study: comprehensive evaluation comparing a baseline CPU against a distinct optimized microarchitectural variant.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3464" y="228600"/>
            <a:ext cx="1162476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74904" y="896112"/>
            <a:ext cx="11624766" cy="339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Project Status</a:t>
            </a:r>
            <a:endParaRPr lang="en-US" sz="15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0–4 Implemented — Phases 1–3 Verified End-to-End; Phase 4 Comparison Pipeline Implemented (meaningful comparative evaluation pending a distinct HDL variant).</a:t>
            </a:r>
            <a:endParaRPr lang="en-US" sz="1500" dirty="0"/>
          </a:p>
          <a:p>
            <a:pPr marL="0" indent="0" algn="l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 Completed</a:t>
            </a:r>
            <a:endParaRPr lang="en-US" sz="15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batch simulation pipeline (Phase 1), SQLite Digital Twin Store with design lineage (Phase 2), Automated Bottleneck Analyzer (Phase 3), Multi-Design Comparison &amp; Ranking Engine (Phase 4), 29 automated unit tests.</a:t>
            </a:r>
            <a:endParaRPr lang="en-US" sz="1500" dirty="0"/>
          </a:p>
          <a:p>
            <a:pPr marL="0" indent="0" algn="l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  <a:p>
            <a:pPr marL="177800" indent="-177800" algn="l">
              <a:lnSpc>
                <a:spcPct val="105000"/>
              </a:lnSpc>
              <a:spcAft>
                <a:spcPts val="4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(Performance Predictor), while introducing a distinct HDL microarchitectural variant to enable meaningful Phase 4 comparison and Phase 8 evaluation.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AFB872-F396-28CC-937F-CDB827A1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1B31D20-AC70-49CD-087B-1520DDE7BE0E}"/>
              </a:ext>
            </a:extLst>
          </p:cNvPr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B1DD251-755E-8CDE-D1A0-5F17F2393712}"/>
              </a:ext>
            </a:extLst>
          </p:cNvPr>
          <p:cNvSpPr/>
          <p:nvPr/>
        </p:nvSpPr>
        <p:spPr>
          <a:xfrm>
            <a:off x="374903" y="2878916"/>
            <a:ext cx="1144188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48776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</TotalTime>
  <Words>1511</Words>
  <Application>Microsoft Office PowerPoint</Application>
  <PresentationFormat>Widescreen</PresentationFormat>
  <Paragraphs>142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 Sudheeswar Reddy</cp:lastModifiedBy>
  <cp:revision>3</cp:revision>
  <dcterms:created xsi:type="dcterms:W3CDTF">2026-08-15T13:42:55Z</dcterms:created>
  <dcterms:modified xsi:type="dcterms:W3CDTF">2026-08-16T04:35:33Z</dcterms:modified>
</cp:coreProperties>
</file>